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74" r:id="rId2"/>
    <p:sldId id="1053" r:id="rId3"/>
    <p:sldId id="1064" r:id="rId4"/>
    <p:sldId id="1073" r:id="rId5"/>
    <p:sldId id="1074" r:id="rId6"/>
    <p:sldId id="1076" r:id="rId7"/>
    <p:sldId id="256" r:id="rId8"/>
    <p:sldId id="258" r:id="rId9"/>
    <p:sldId id="261" r:id="rId10"/>
    <p:sldId id="1066" r:id="rId11"/>
    <p:sldId id="1068" r:id="rId12"/>
    <p:sldId id="1067" r:id="rId13"/>
    <p:sldId id="1070" r:id="rId14"/>
    <p:sldId id="1071" r:id="rId15"/>
    <p:sldId id="1069" r:id="rId16"/>
    <p:sldId id="1075" r:id="rId17"/>
    <p:sldId id="1060" r:id="rId18"/>
    <p:sldId id="1062" r:id="rId19"/>
    <p:sldId id="271" r:id="rId20"/>
    <p:sldId id="1077" r:id="rId21"/>
    <p:sldId id="1078" r:id="rId22"/>
    <p:sldId id="105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F4FCF3-4C0C-4A8A-8358-89EDF1CBEE1B}">
          <p14:sldIdLst>
            <p14:sldId id="274"/>
            <p14:sldId id="1053"/>
            <p14:sldId id="1064"/>
            <p14:sldId id="1073"/>
            <p14:sldId id="1074"/>
            <p14:sldId id="1076"/>
            <p14:sldId id="256"/>
            <p14:sldId id="258"/>
            <p14:sldId id="261"/>
            <p14:sldId id="1066"/>
            <p14:sldId id="1068"/>
            <p14:sldId id="1067"/>
          </p14:sldIdLst>
        </p14:section>
        <p14:section name="Untitled Section" id="{CD495DDC-3D16-4867-98A5-30FDA40B4079}">
          <p14:sldIdLst>
            <p14:sldId id="1070"/>
            <p14:sldId id="1071"/>
            <p14:sldId id="1069"/>
            <p14:sldId id="1075"/>
            <p14:sldId id="1060"/>
            <p14:sldId id="1062"/>
            <p14:sldId id="271"/>
            <p14:sldId id="1077"/>
            <p14:sldId id="1078"/>
            <p14:sldId id="10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218"/>
    <a:srgbClr val="A8D08D"/>
    <a:srgbClr val="5982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0"/>
  </p:normalViewPr>
  <p:slideViewPr>
    <p:cSldViewPr snapToGrid="0">
      <p:cViewPr varScale="1">
        <p:scale>
          <a:sx n="77" d="100"/>
          <a:sy n="77" d="100"/>
        </p:scale>
        <p:origin x="43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06A0F2-5DCE-45F9-847C-C1C544BE4DB1}"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1738200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6A0F2-5DCE-45F9-847C-C1C544BE4DB1}"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3686417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06A0F2-5DCE-45F9-847C-C1C544BE4DB1}"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735247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06A0F2-5DCE-45F9-847C-C1C544BE4DB1}"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3894689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06A0F2-5DCE-45F9-847C-C1C544BE4DB1}" type="datetimeFigureOut">
              <a:rPr lang="en-US" smtClean="0"/>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875693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06A0F2-5DCE-45F9-847C-C1C544BE4DB1}" type="datetimeFigureOut">
              <a:rPr lang="en-US" smtClean="0"/>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3760887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6A0F2-5DCE-45F9-847C-C1C544BE4DB1}" type="datetimeFigureOut">
              <a:rPr lang="en-US" smtClean="0"/>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613073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06A0F2-5DCE-45F9-847C-C1C544BE4DB1}"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670590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06A0F2-5DCE-45F9-847C-C1C544BE4DB1}"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3557919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6A0F2-5DCE-45F9-847C-C1C544BE4DB1}"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3692129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6A0F2-5DCE-45F9-847C-C1C544BE4DB1}"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2B0B7-69F1-402D-8FFB-EB4D774066B8}" type="slidenum">
              <a:rPr lang="en-US" smtClean="0"/>
              <a:t>‹#›</a:t>
            </a:fld>
            <a:endParaRPr lang="en-US"/>
          </a:p>
        </p:txBody>
      </p:sp>
    </p:spTree>
    <p:extLst>
      <p:ext uri="{BB962C8B-B14F-4D97-AF65-F5344CB8AC3E}">
        <p14:creationId xmlns:p14="http://schemas.microsoft.com/office/powerpoint/2010/main" val="1311908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06A0F2-5DCE-45F9-847C-C1C544BE4DB1}" type="datetimeFigureOut">
              <a:rPr lang="en-US" smtClean="0"/>
              <a:t>4/14/2025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C2B0B7-69F1-402D-8FFB-EB4D774066B8}" type="slidenum">
              <a:rPr lang="en-US" smtClean="0"/>
              <a:t>‹#›</a:t>
            </a:fld>
            <a:endParaRPr lang="en-US"/>
          </a:p>
        </p:txBody>
      </p:sp>
    </p:spTree>
    <p:extLst>
      <p:ext uri="{BB962C8B-B14F-4D97-AF65-F5344CB8AC3E}">
        <p14:creationId xmlns:p14="http://schemas.microsoft.com/office/powerpoint/2010/main" val="1175505614"/>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erson looking at a bug&#10;&#10;Description automatically generated">
            <a:extLst>
              <a:ext uri="{FF2B5EF4-FFF2-40B4-BE49-F238E27FC236}">
                <a16:creationId xmlns:a16="http://schemas.microsoft.com/office/drawing/2014/main" id="{1B2CAF72-3884-A93B-0E25-ED806B40466B}"/>
              </a:ext>
            </a:extLst>
          </p:cNvPr>
          <p:cNvPicPr>
            <a:picLocks noChangeAspect="1"/>
          </p:cNvPicPr>
          <p:nvPr/>
        </p:nvPicPr>
        <p:blipFill rotWithShape="1">
          <a:blip r:embed="rId2">
            <a:extLst>
              <a:ext uri="{28A0092B-C50C-407E-A947-70E740481C1C}">
                <a14:useLocalDpi xmlns:a14="http://schemas.microsoft.com/office/drawing/2010/main" val="0"/>
              </a:ext>
            </a:extLst>
          </a:blip>
          <a:srcRect b="-45"/>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B9ACCDCD-1C62-1FE9-D8C3-7B2406A723C5}"/>
              </a:ext>
            </a:extLst>
          </p:cNvPr>
          <p:cNvSpPr/>
          <p:nvPr/>
        </p:nvSpPr>
        <p:spPr>
          <a:xfrm>
            <a:off x="3048" y="-23443"/>
            <a:ext cx="12188952" cy="6902628"/>
          </a:xfrm>
          <a:prstGeom prst="rect">
            <a:avLst/>
          </a:prstGeom>
          <a:solidFill>
            <a:schemeClr val="tx1">
              <a:alpha val="6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4591D6E9-58CA-83D0-9E74-62E78194A9B1}"/>
              </a:ext>
            </a:extLst>
          </p:cNvPr>
          <p:cNvGrpSpPr/>
          <p:nvPr/>
        </p:nvGrpSpPr>
        <p:grpSpPr>
          <a:xfrm>
            <a:off x="2973578" y="1294271"/>
            <a:ext cx="6096000" cy="4267200"/>
            <a:chOff x="3375378" y="1309511"/>
            <a:chExt cx="6096000" cy="4267200"/>
          </a:xfrm>
        </p:grpSpPr>
        <p:sp>
          <p:nvSpPr>
            <p:cNvPr id="6" name="Rectangle 5">
              <a:extLst>
                <a:ext uri="{FF2B5EF4-FFF2-40B4-BE49-F238E27FC236}">
                  <a16:creationId xmlns:a16="http://schemas.microsoft.com/office/drawing/2014/main" id="{C68DA701-D0AE-5C48-46F0-0DCDF9658D80}"/>
                </a:ext>
              </a:extLst>
            </p:cNvPr>
            <p:cNvSpPr/>
            <p:nvPr/>
          </p:nvSpPr>
          <p:spPr>
            <a:xfrm>
              <a:off x="3375378" y="1309511"/>
              <a:ext cx="6096000" cy="4267200"/>
            </a:xfrm>
            <a:prstGeom prst="rect">
              <a:avLst/>
            </a:prstGeom>
            <a:solidFill>
              <a:schemeClr val="accent1">
                <a:alpha val="0"/>
              </a:schemeClr>
            </a:solidFill>
            <a:ln w="454025">
              <a:solidFill>
                <a:schemeClr val="accent4">
                  <a:alpha val="1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29B4699-D090-3DEA-BB1A-D5F94D8FF8F7}"/>
                </a:ext>
              </a:extLst>
            </p:cNvPr>
            <p:cNvSpPr/>
            <p:nvPr/>
          </p:nvSpPr>
          <p:spPr>
            <a:xfrm>
              <a:off x="4312356" y="1965396"/>
              <a:ext cx="4222044" cy="2955430"/>
            </a:xfrm>
            <a:prstGeom prst="rect">
              <a:avLst/>
            </a:prstGeom>
            <a:solidFill>
              <a:schemeClr val="accent1">
                <a:alpha val="0"/>
              </a:schemeClr>
            </a:solidFill>
            <a:ln w="454025">
              <a:solidFill>
                <a:schemeClr val="accent4">
                  <a:alpha val="1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5B21EA83-E484-FBF2-D04B-C37E2D470730}"/>
              </a:ext>
            </a:extLst>
          </p:cNvPr>
          <p:cNvGrpSpPr/>
          <p:nvPr/>
        </p:nvGrpSpPr>
        <p:grpSpPr>
          <a:xfrm>
            <a:off x="11156470" y="112889"/>
            <a:ext cx="922642" cy="782697"/>
            <a:chOff x="11077447" y="316089"/>
            <a:chExt cx="922642" cy="782697"/>
          </a:xfrm>
          <a:solidFill>
            <a:srgbClr val="2F5218"/>
          </a:solidFill>
        </p:grpSpPr>
        <p:sp>
          <p:nvSpPr>
            <p:cNvPr id="10" name="Rectangle 9">
              <a:extLst>
                <a:ext uri="{FF2B5EF4-FFF2-40B4-BE49-F238E27FC236}">
                  <a16:creationId xmlns:a16="http://schemas.microsoft.com/office/drawing/2014/main" id="{370E8F98-0F0B-93EB-24D7-542AC9F9A810}"/>
                </a:ext>
              </a:extLst>
            </p:cNvPr>
            <p:cNvSpPr/>
            <p:nvPr/>
          </p:nvSpPr>
          <p:spPr>
            <a:xfrm>
              <a:off x="11458222" y="316089"/>
              <a:ext cx="541867" cy="46284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4B68EF-5DB6-3383-0AEF-CA081263E28A}"/>
                </a:ext>
              </a:extLst>
            </p:cNvPr>
            <p:cNvSpPr/>
            <p:nvPr/>
          </p:nvSpPr>
          <p:spPr>
            <a:xfrm>
              <a:off x="11077447" y="790222"/>
              <a:ext cx="361246" cy="30856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6B70D4D5-C086-7FFB-7B7B-E526784EBC19}"/>
              </a:ext>
            </a:extLst>
          </p:cNvPr>
          <p:cNvGrpSpPr/>
          <p:nvPr/>
        </p:nvGrpSpPr>
        <p:grpSpPr>
          <a:xfrm flipH="1" flipV="1">
            <a:off x="110289" y="5977467"/>
            <a:ext cx="922642" cy="782697"/>
            <a:chOff x="11077447" y="316089"/>
            <a:chExt cx="922642" cy="782697"/>
          </a:xfrm>
          <a:solidFill>
            <a:srgbClr val="2F5218"/>
          </a:solidFill>
        </p:grpSpPr>
        <p:sp>
          <p:nvSpPr>
            <p:cNvPr id="13" name="Rectangle 12">
              <a:extLst>
                <a:ext uri="{FF2B5EF4-FFF2-40B4-BE49-F238E27FC236}">
                  <a16:creationId xmlns:a16="http://schemas.microsoft.com/office/drawing/2014/main" id="{E123DDBF-4692-A33A-6C20-51988781AEA8}"/>
                </a:ext>
              </a:extLst>
            </p:cNvPr>
            <p:cNvSpPr/>
            <p:nvPr/>
          </p:nvSpPr>
          <p:spPr>
            <a:xfrm>
              <a:off x="11458222" y="316089"/>
              <a:ext cx="541867" cy="46284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E659117-639E-09A5-F71F-4ABDB0448DF8}"/>
                </a:ext>
              </a:extLst>
            </p:cNvPr>
            <p:cNvSpPr/>
            <p:nvPr/>
          </p:nvSpPr>
          <p:spPr>
            <a:xfrm>
              <a:off x="11077447" y="790222"/>
              <a:ext cx="361246" cy="30856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4" descr="Agriculture - Free ecology and environment icons">
            <a:extLst>
              <a:ext uri="{FF2B5EF4-FFF2-40B4-BE49-F238E27FC236}">
                <a16:creationId xmlns:a16="http://schemas.microsoft.com/office/drawing/2014/main" id="{2D3B50E2-9098-4DF6-97F6-B9218C503BE0}"/>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800000" flipH="1" flipV="1">
            <a:off x="72712" y="66042"/>
            <a:ext cx="551650" cy="55165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C62BB651-BEF9-DBEA-25C7-3FE1E3A4B7EC}"/>
              </a:ext>
            </a:extLst>
          </p:cNvPr>
          <p:cNvSpPr txBox="1"/>
          <p:nvPr/>
        </p:nvSpPr>
        <p:spPr>
          <a:xfrm>
            <a:off x="998051" y="448204"/>
            <a:ext cx="10047055" cy="1446550"/>
          </a:xfrm>
          <a:prstGeom prst="rect">
            <a:avLst/>
          </a:prstGeom>
          <a:noFill/>
        </p:spPr>
        <p:txBody>
          <a:bodyPr wrap="square" rtlCol="0">
            <a:spAutoFit/>
          </a:bodyPr>
          <a:lstStyle/>
          <a:p>
            <a:pPr algn="ctr"/>
            <a:r>
              <a:rPr lang="en-US" sz="4400" b="1" dirty="0">
                <a:solidFill>
                  <a:schemeClr val="bg1"/>
                </a:solidFill>
                <a:latin typeface="Copperplate Gothic Bold" panose="020E0705020206020404" pitchFamily="34" charset="0"/>
              </a:rPr>
              <a:t>	ANALYSIS ON Climate Change Impact on Agriculture </a:t>
            </a:r>
          </a:p>
        </p:txBody>
      </p:sp>
      <p:sp>
        <p:nvSpPr>
          <p:cNvPr id="2" name="TextBox 1">
            <a:extLst>
              <a:ext uri="{FF2B5EF4-FFF2-40B4-BE49-F238E27FC236}">
                <a16:creationId xmlns:a16="http://schemas.microsoft.com/office/drawing/2014/main" id="{54B1CC99-4054-CCD4-E89A-B68E8E3177BB}"/>
              </a:ext>
            </a:extLst>
          </p:cNvPr>
          <p:cNvSpPr txBox="1"/>
          <p:nvPr/>
        </p:nvSpPr>
        <p:spPr>
          <a:xfrm>
            <a:off x="1645420" y="3101057"/>
            <a:ext cx="9020901" cy="2123658"/>
          </a:xfrm>
          <a:prstGeom prst="rect">
            <a:avLst/>
          </a:prstGeom>
          <a:noFill/>
        </p:spPr>
        <p:txBody>
          <a:bodyPr wrap="square" rtlCol="0">
            <a:spAutoFit/>
          </a:bodyPr>
          <a:lstStyle/>
          <a:p>
            <a:pPr algn="ctr"/>
            <a:r>
              <a:rPr lang="en-US" sz="4400" b="1" dirty="0">
                <a:solidFill>
                  <a:schemeClr val="bg1"/>
                </a:solidFill>
                <a:latin typeface="Copperplate Gothic Bold" panose="020E0705020206020404" pitchFamily="34" charset="0"/>
              </a:rPr>
              <a:t>BY</a:t>
            </a:r>
          </a:p>
          <a:p>
            <a:pPr algn="ctr"/>
            <a:endParaRPr lang="en-US" sz="4400" b="1" dirty="0">
              <a:solidFill>
                <a:schemeClr val="bg1"/>
              </a:solidFill>
              <a:latin typeface="Copperplate Gothic Bold" panose="020E0705020206020404" pitchFamily="34" charset="0"/>
            </a:endParaRPr>
          </a:p>
          <a:p>
            <a:pPr algn="ctr"/>
            <a:r>
              <a:rPr lang="en-US" sz="4400" b="1" dirty="0">
                <a:solidFill>
                  <a:schemeClr val="bg1"/>
                </a:solidFill>
                <a:latin typeface="Copperplate Gothic Bold" panose="020E0705020206020404" pitchFamily="34" charset="0"/>
              </a:rPr>
              <a:t>GROUP 4</a:t>
            </a:r>
          </a:p>
        </p:txBody>
      </p:sp>
    </p:spTree>
    <p:extLst>
      <p:ext uri="{BB962C8B-B14F-4D97-AF65-F5344CB8AC3E}">
        <p14:creationId xmlns:p14="http://schemas.microsoft.com/office/powerpoint/2010/main" val="21811594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D789D-BDAA-BAC7-9A4F-BBAED754D2E0}"/>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BA995B9C-493E-38BB-D717-0220C250B9D0}"/>
              </a:ext>
            </a:extLst>
          </p:cNvPr>
          <p:cNvSpPr>
            <a:spLocks noChangeArrowheads="1"/>
          </p:cNvSpPr>
          <p:nvPr/>
        </p:nvSpPr>
        <p:spPr bwMode="auto">
          <a:xfrm>
            <a:off x="1463751" y="-149325"/>
            <a:ext cx="9584267" cy="6755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spcBef>
                <a:spcPts val="600"/>
              </a:spcBef>
              <a:spcAft>
                <a:spcPct val="0"/>
              </a:spcAft>
              <a:buClrTx/>
              <a:buSzTx/>
              <a:buFontTx/>
              <a:buNone/>
              <a:tabLst/>
            </a:pPr>
            <a:r>
              <a:rPr lang="en-US" sz="3600" i="0" dirty="0">
                <a:effectLst/>
                <a:latin typeface="Copperplate Gothic Bold" panose="020E0705020206020404" pitchFamily="34" charset="0"/>
                <a:cs typeface="Times New Roman" panose="02020603050405020304" pitchFamily="18" charset="0"/>
              </a:rPr>
              <a:t>CONTENT</a:t>
            </a:r>
          </a:p>
          <a:p>
            <a:pPr marL="0" marR="0" lvl="0" indent="0" algn="ctr" defTabSz="914400" rtl="0" eaLnBrk="0" fontAlgn="base" latinLnBrk="0" hangingPunct="0">
              <a:spcBef>
                <a:spcPts val="600"/>
              </a:spcBef>
              <a:spcAft>
                <a:spcPct val="0"/>
              </a:spcAft>
              <a:buClrTx/>
              <a:buSzTx/>
              <a:buFontTx/>
              <a:buNone/>
              <a:tabLst/>
            </a:pPr>
            <a:endParaRPr lang="en-US" sz="2400" i="0" dirty="0">
              <a:effectLst/>
              <a:latin typeface="Copperplate Gothic Bold" panose="020E0705020206020404" pitchFamily="34" charset="0"/>
              <a:cs typeface="Times New Roman" panose="02020603050405020304" pitchFamily="18" charset="0"/>
            </a:endParaRPr>
          </a:p>
          <a:p>
            <a:pPr marL="457200" indent="-457200">
              <a:spcBef>
                <a:spcPct val="0"/>
              </a:spcBef>
              <a:buFont typeface="Wingdings" panose="05000000000000000000" pitchFamily="2" charset="2"/>
              <a:buChar char="q"/>
            </a:pPr>
            <a:r>
              <a:rPr lang="en-US" sz="3600" dirty="0">
                <a:latin typeface="Agency FB" panose="020B0503020202020204" pitchFamily="34" charset="0"/>
              </a:rPr>
              <a:t>Introduction</a:t>
            </a:r>
          </a:p>
          <a:p>
            <a:pPr marL="457200" indent="-457200">
              <a:spcBef>
                <a:spcPct val="0"/>
              </a:spcBef>
              <a:buFont typeface="Wingdings" panose="05000000000000000000" pitchFamily="2" charset="2"/>
              <a:buChar char="q"/>
            </a:pPr>
            <a:r>
              <a:rPr lang="en-US" sz="3600" cap="none" dirty="0">
                <a:latin typeface="Agency FB" panose="020B0503020202020204" pitchFamily="34" charset="0"/>
              </a:rPr>
              <a:t>Problem Statements</a:t>
            </a:r>
          </a:p>
          <a:p>
            <a:pPr marL="457200" indent="-457200">
              <a:spcBef>
                <a:spcPct val="0"/>
              </a:spcBef>
              <a:buFont typeface="Wingdings" panose="05000000000000000000" pitchFamily="2" charset="2"/>
              <a:buChar char="q"/>
            </a:pPr>
            <a:r>
              <a:rPr lang="en-US" sz="3600" cap="none" dirty="0">
                <a:latin typeface="Agency FB" panose="020B0503020202020204" pitchFamily="34" charset="0"/>
              </a:rPr>
              <a:t>Why this Analysis Matters</a:t>
            </a:r>
          </a:p>
          <a:p>
            <a:pPr marL="457200" indent="-457200">
              <a:spcBef>
                <a:spcPct val="0"/>
              </a:spcBef>
              <a:buFont typeface="Wingdings" panose="05000000000000000000" pitchFamily="2" charset="2"/>
              <a:buChar char="q"/>
            </a:pPr>
            <a:r>
              <a:rPr lang="en-US" sz="3600" dirty="0">
                <a:latin typeface="Agency FB" panose="020B0503020202020204" pitchFamily="34" charset="0"/>
              </a:rPr>
              <a:t>Methodology</a:t>
            </a:r>
            <a:endParaRPr lang="en-US" sz="3600" cap="none" dirty="0">
              <a:latin typeface="Agency FB" panose="020B0503020202020204" pitchFamily="34" charset="0"/>
            </a:endParaRPr>
          </a:p>
          <a:p>
            <a:pPr marL="457200" indent="-457200">
              <a:spcBef>
                <a:spcPct val="0"/>
              </a:spcBef>
              <a:buFont typeface="Wingdings" panose="05000000000000000000" pitchFamily="2" charset="2"/>
              <a:buChar char="q"/>
            </a:pPr>
            <a:r>
              <a:rPr lang="en-US" sz="3600" dirty="0">
                <a:latin typeface="Agency FB" panose="020B0503020202020204" pitchFamily="34" charset="0"/>
              </a:rPr>
              <a:t>Key Findings</a:t>
            </a:r>
          </a:p>
          <a:p>
            <a:pPr marL="457200" indent="-457200">
              <a:spcBef>
                <a:spcPct val="0"/>
              </a:spcBef>
              <a:buFont typeface="Wingdings" panose="05000000000000000000" pitchFamily="2" charset="2"/>
              <a:buChar char="q"/>
            </a:pPr>
            <a:r>
              <a:rPr lang="en-US" sz="3600" cap="none" dirty="0">
                <a:latin typeface="Agency FB" panose="020B0503020202020204" pitchFamily="34" charset="0"/>
              </a:rPr>
              <a:t>Limitations</a:t>
            </a:r>
          </a:p>
          <a:p>
            <a:pPr marL="457200" indent="-457200">
              <a:spcBef>
                <a:spcPct val="0"/>
              </a:spcBef>
              <a:buFont typeface="Wingdings" panose="05000000000000000000" pitchFamily="2" charset="2"/>
              <a:buChar char="q"/>
            </a:pPr>
            <a:r>
              <a:rPr lang="en-US" sz="3600" dirty="0">
                <a:latin typeface="Agency FB" panose="020B0503020202020204" pitchFamily="34" charset="0"/>
              </a:rPr>
              <a:t>Improvements</a:t>
            </a:r>
            <a:endParaRPr lang="en-US" sz="3600" cap="none" dirty="0">
              <a:latin typeface="Agency FB" panose="020B0503020202020204" pitchFamily="34" charset="0"/>
            </a:endParaRPr>
          </a:p>
          <a:p>
            <a:pPr marL="457200" indent="-457200">
              <a:spcBef>
                <a:spcPct val="0"/>
              </a:spcBef>
              <a:buFont typeface="Wingdings" panose="05000000000000000000" pitchFamily="2" charset="2"/>
              <a:buChar char="q"/>
            </a:pPr>
            <a:r>
              <a:rPr lang="en-US" sz="3600" cap="none" dirty="0">
                <a:latin typeface="Agency FB" panose="020B0503020202020204" pitchFamily="34" charset="0"/>
              </a:rPr>
              <a:t>Recommendations</a:t>
            </a:r>
          </a:p>
          <a:p>
            <a:pPr marL="457200" indent="-457200">
              <a:spcBef>
                <a:spcPct val="0"/>
              </a:spcBef>
              <a:buFont typeface="Wingdings" panose="05000000000000000000" pitchFamily="2" charset="2"/>
              <a:buChar char="q"/>
            </a:pPr>
            <a:r>
              <a:rPr lang="en-US" sz="3600" dirty="0">
                <a:latin typeface="Agency FB" panose="020B0503020202020204" pitchFamily="34" charset="0"/>
              </a:rPr>
              <a:t>Conclusion</a:t>
            </a:r>
          </a:p>
          <a:p>
            <a:pPr marL="457200" indent="-457200">
              <a:spcBef>
                <a:spcPct val="0"/>
              </a:spcBef>
              <a:buFont typeface="Wingdings" panose="05000000000000000000" pitchFamily="2" charset="2"/>
              <a:buChar char="q"/>
            </a:pPr>
            <a:r>
              <a:rPr lang="en-US" sz="3600">
                <a:latin typeface="Agency FB" panose="020B0503020202020204" pitchFamily="34" charset="0"/>
              </a:rPr>
              <a:t>Dashboard</a:t>
            </a:r>
            <a:endParaRPr lang="en-US" sz="4400" dirty="0">
              <a:latin typeface="Agency FB" panose="020B0503020202020204" pitchFamily="34" charset="0"/>
            </a:endParaRPr>
          </a:p>
        </p:txBody>
      </p:sp>
      <p:grpSp>
        <p:nvGrpSpPr>
          <p:cNvPr id="14" name="Group 13">
            <a:extLst>
              <a:ext uri="{FF2B5EF4-FFF2-40B4-BE49-F238E27FC236}">
                <a16:creationId xmlns:a16="http://schemas.microsoft.com/office/drawing/2014/main" id="{9A3AD8C9-85DD-02E9-CD49-6699019E532C}"/>
              </a:ext>
            </a:extLst>
          </p:cNvPr>
          <p:cNvGrpSpPr/>
          <p:nvPr/>
        </p:nvGrpSpPr>
        <p:grpSpPr>
          <a:xfrm>
            <a:off x="10463563" y="6342039"/>
            <a:ext cx="1412348" cy="307777"/>
            <a:chOff x="10463563" y="6342039"/>
            <a:chExt cx="1412348" cy="307777"/>
          </a:xfrm>
        </p:grpSpPr>
        <p:grpSp>
          <p:nvGrpSpPr>
            <p:cNvPr id="12" name="Group 11">
              <a:extLst>
                <a:ext uri="{FF2B5EF4-FFF2-40B4-BE49-F238E27FC236}">
                  <a16:creationId xmlns:a16="http://schemas.microsoft.com/office/drawing/2014/main" id="{A82CEBBD-F655-4D16-201A-780F59D28C2D}"/>
                </a:ext>
              </a:extLst>
            </p:cNvPr>
            <p:cNvGrpSpPr/>
            <p:nvPr/>
          </p:nvGrpSpPr>
          <p:grpSpPr>
            <a:xfrm>
              <a:off x="11582401" y="6349172"/>
              <a:ext cx="293510" cy="293510"/>
              <a:chOff x="6096000" y="530578"/>
              <a:chExt cx="428978" cy="428978"/>
            </a:xfrm>
          </p:grpSpPr>
          <p:sp>
            <p:nvSpPr>
              <p:cNvPr id="10" name="Oval 9">
                <a:extLst>
                  <a:ext uri="{FF2B5EF4-FFF2-40B4-BE49-F238E27FC236}">
                    <a16:creationId xmlns:a16="http://schemas.microsoft.com/office/drawing/2014/main" id="{2844622A-7AB7-649E-686F-4CE98CA87DC6}"/>
                  </a:ext>
                </a:extLst>
              </p:cNvPr>
              <p:cNvSpPr/>
              <p:nvPr/>
            </p:nvSpPr>
            <p:spPr>
              <a:xfrm>
                <a:off x="6096000" y="530578"/>
                <a:ext cx="428978" cy="428978"/>
              </a:xfrm>
              <a:prstGeom prst="ellipse">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0CF18751-4DD5-23C6-C21D-5FC540EEE534}"/>
                  </a:ext>
                </a:extLst>
              </p:cNvPr>
              <p:cNvSpPr/>
              <p:nvPr/>
            </p:nvSpPr>
            <p:spPr>
              <a:xfrm rot="5400000">
                <a:off x="6231466" y="676944"/>
                <a:ext cx="158046" cy="13624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DE8FD10A-C3F7-EABF-E6C0-D26C19F115A6}"/>
                </a:ext>
              </a:extLst>
            </p:cNvPr>
            <p:cNvSpPr txBox="1"/>
            <p:nvPr/>
          </p:nvSpPr>
          <p:spPr>
            <a:xfrm>
              <a:off x="10463563" y="6342039"/>
              <a:ext cx="1168910" cy="307777"/>
            </a:xfrm>
            <a:prstGeom prst="rect">
              <a:avLst/>
            </a:prstGeom>
            <a:noFill/>
          </p:spPr>
          <p:txBody>
            <a:bodyPr wrap="none" rtlCol="0">
              <a:spAutoFit/>
            </a:bodyPr>
            <a:lstStyle/>
            <a:p>
              <a:r>
                <a:rPr lang="en-US" sz="1400" dirty="0">
                  <a:solidFill>
                    <a:schemeClr val="tx1">
                      <a:lumMod val="95000"/>
                      <a:lumOff val="5000"/>
                    </a:schemeClr>
                  </a:solidFill>
                  <a:latin typeface="Lora" pitchFamily="2" charset="0"/>
                </a:rPr>
                <a:t>Agricultural</a:t>
              </a:r>
            </a:p>
          </p:txBody>
        </p:sp>
      </p:grpSp>
      <p:grpSp>
        <p:nvGrpSpPr>
          <p:cNvPr id="17" name="Group 16">
            <a:extLst>
              <a:ext uri="{FF2B5EF4-FFF2-40B4-BE49-F238E27FC236}">
                <a16:creationId xmlns:a16="http://schemas.microsoft.com/office/drawing/2014/main" id="{082C97BC-FE7B-7BFE-4865-EE010C29FAB3}"/>
              </a:ext>
            </a:extLst>
          </p:cNvPr>
          <p:cNvGrpSpPr/>
          <p:nvPr/>
        </p:nvGrpSpPr>
        <p:grpSpPr>
          <a:xfrm>
            <a:off x="11296539" y="106583"/>
            <a:ext cx="749433" cy="667421"/>
            <a:chOff x="11139222" y="235887"/>
            <a:chExt cx="749433" cy="667421"/>
          </a:xfrm>
        </p:grpSpPr>
        <p:sp>
          <p:nvSpPr>
            <p:cNvPr id="15" name="Rectangle 14">
              <a:extLst>
                <a:ext uri="{FF2B5EF4-FFF2-40B4-BE49-F238E27FC236}">
                  <a16:creationId xmlns:a16="http://schemas.microsoft.com/office/drawing/2014/main" id="{459240A0-6A33-B82C-20D8-2F51FE1FEB12}"/>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703FBDD-2A88-6878-87A0-28CB220B57AB}"/>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31A85097-679A-40EA-97A7-BDE150A78B5D}"/>
              </a:ext>
            </a:extLst>
          </p:cNvPr>
          <p:cNvGrpSpPr/>
          <p:nvPr/>
        </p:nvGrpSpPr>
        <p:grpSpPr>
          <a:xfrm>
            <a:off x="172317" y="106583"/>
            <a:ext cx="749433" cy="667421"/>
            <a:chOff x="11139222" y="235887"/>
            <a:chExt cx="749433" cy="667421"/>
          </a:xfrm>
        </p:grpSpPr>
        <p:sp>
          <p:nvSpPr>
            <p:cNvPr id="19" name="Rectangle 18">
              <a:extLst>
                <a:ext uri="{FF2B5EF4-FFF2-40B4-BE49-F238E27FC236}">
                  <a16:creationId xmlns:a16="http://schemas.microsoft.com/office/drawing/2014/main" id="{457983ED-AB25-4529-8320-4EF0415F6880}"/>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07CE54E-3253-4026-B636-583B526E547F}"/>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55820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D632-AAD8-2033-D703-009BEC5DBBD0}"/>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FD1C67DC-3C5D-1E83-BD6C-FCEFBA2D8B0D}"/>
              </a:ext>
            </a:extLst>
          </p:cNvPr>
          <p:cNvSpPr>
            <a:spLocks noChangeArrowheads="1"/>
          </p:cNvSpPr>
          <p:nvPr/>
        </p:nvSpPr>
        <p:spPr bwMode="auto">
          <a:xfrm>
            <a:off x="895461" y="780739"/>
            <a:ext cx="10161101"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spcBef>
                <a:spcPts val="600"/>
              </a:spcBef>
              <a:spcAft>
                <a:spcPct val="0"/>
              </a:spcAft>
              <a:buClrTx/>
              <a:buSzTx/>
              <a:buFontTx/>
              <a:buNone/>
              <a:tabLst/>
            </a:pPr>
            <a:r>
              <a:rPr lang="en-US" sz="3600" b="1" i="0" dirty="0">
                <a:effectLst/>
                <a:latin typeface="Copperplate Gothic Bold" panose="020E0705020206020404" pitchFamily="34" charset="0"/>
                <a:cs typeface="Times New Roman" panose="02020603050405020304" pitchFamily="18" charset="0"/>
              </a:rPr>
              <a:t>INTRODUCTION</a:t>
            </a:r>
          </a:p>
          <a:p>
            <a:pPr marL="0" marR="0" lvl="0" indent="0" algn="ctr" defTabSz="914400" rtl="0" eaLnBrk="0" fontAlgn="base" latinLnBrk="0" hangingPunct="0">
              <a:spcBef>
                <a:spcPts val="600"/>
              </a:spcBef>
              <a:spcAft>
                <a:spcPct val="0"/>
              </a:spcAft>
              <a:buClrTx/>
              <a:buSzTx/>
              <a:buFontTx/>
              <a:buNone/>
              <a:tabLst/>
            </a:pPr>
            <a:endParaRPr lang="en-US" sz="2400" b="1" i="0" dirty="0">
              <a:effectLst/>
              <a:latin typeface="Agency FB" panose="020B0503020202020204" pitchFamily="34" charset="0"/>
              <a:cs typeface="Times New Roman" panose="02020603050405020304" pitchFamily="18" charset="0"/>
            </a:endParaRPr>
          </a:p>
          <a:p>
            <a:pPr marL="0" marR="0" lvl="0" indent="0" algn="ctr" defTabSz="914400" rtl="0" eaLnBrk="0" fontAlgn="base" latinLnBrk="0" hangingPunct="0">
              <a:spcBef>
                <a:spcPts val="600"/>
              </a:spcBef>
              <a:spcAft>
                <a:spcPct val="0"/>
              </a:spcAft>
              <a:buClrTx/>
              <a:buSzTx/>
              <a:buFontTx/>
              <a:buNone/>
              <a:tabLst/>
            </a:pPr>
            <a:endParaRPr lang="en-US" sz="2400" b="1" i="0" dirty="0">
              <a:effectLst/>
              <a:latin typeface="Agency FB" panose="020B0503020202020204" pitchFamily="34" charset="0"/>
              <a:cs typeface="Times New Roman" panose="02020603050405020304" pitchFamily="18" charset="0"/>
            </a:endParaRPr>
          </a:p>
          <a:p>
            <a:pPr algn="just"/>
            <a:r>
              <a:rPr lang="en-US" sz="3200" dirty="0">
                <a:latin typeface="Agency FB" panose="020B0503020202020204" pitchFamily="34" charset="0"/>
                <a:cs typeface="Times New Roman" panose="02020603050405020304" pitchFamily="18" charset="0"/>
              </a:rPr>
              <a:t>This analysis on </a:t>
            </a:r>
            <a:r>
              <a:rPr lang="en-US" sz="3200" b="1" dirty="0">
                <a:latin typeface="Agency FB" panose="020B0503020202020204" pitchFamily="34" charset="0"/>
                <a:cs typeface="Times New Roman" panose="02020603050405020304" pitchFamily="18" charset="0"/>
              </a:rPr>
              <a:t>‘Climate Change impact on Agriculture</a:t>
            </a:r>
            <a:r>
              <a:rPr lang="en-US" sz="3200" dirty="0">
                <a:latin typeface="Agency FB" panose="020B0503020202020204" pitchFamily="34" charset="0"/>
                <a:cs typeface="Times New Roman" panose="02020603050405020304" pitchFamily="18" charset="0"/>
              </a:rPr>
              <a:t>’ explores how evolving climate conditions are influencing crop yields and agricultural sustainability. </a:t>
            </a:r>
          </a:p>
          <a:p>
            <a:pPr algn="just"/>
            <a:r>
              <a:rPr lang="en-US" sz="3200" dirty="0">
                <a:latin typeface="Agency FB" panose="020B0503020202020204" pitchFamily="34" charset="0"/>
                <a:cs typeface="Times New Roman" panose="02020603050405020304" pitchFamily="18" charset="0"/>
              </a:rPr>
              <a:t>We will take a data-driven journey through historical trends, regional variations, and key correlations to reveal actionable insights that can help shape future strategies in agriculture.</a:t>
            </a:r>
          </a:p>
        </p:txBody>
      </p:sp>
      <p:grpSp>
        <p:nvGrpSpPr>
          <p:cNvPr id="14" name="Group 13">
            <a:extLst>
              <a:ext uri="{FF2B5EF4-FFF2-40B4-BE49-F238E27FC236}">
                <a16:creationId xmlns:a16="http://schemas.microsoft.com/office/drawing/2014/main" id="{5D621390-2921-E218-8BA4-75FFF78184BE}"/>
              </a:ext>
            </a:extLst>
          </p:cNvPr>
          <p:cNvGrpSpPr/>
          <p:nvPr/>
        </p:nvGrpSpPr>
        <p:grpSpPr>
          <a:xfrm>
            <a:off x="10463563" y="6342039"/>
            <a:ext cx="1412348" cy="307777"/>
            <a:chOff x="10463563" y="6342039"/>
            <a:chExt cx="1412348" cy="307777"/>
          </a:xfrm>
        </p:grpSpPr>
        <p:grpSp>
          <p:nvGrpSpPr>
            <p:cNvPr id="12" name="Group 11">
              <a:extLst>
                <a:ext uri="{FF2B5EF4-FFF2-40B4-BE49-F238E27FC236}">
                  <a16:creationId xmlns:a16="http://schemas.microsoft.com/office/drawing/2014/main" id="{C6AD7EDA-0E4D-6A41-4F98-A2E0D8D3D761}"/>
                </a:ext>
              </a:extLst>
            </p:cNvPr>
            <p:cNvGrpSpPr/>
            <p:nvPr/>
          </p:nvGrpSpPr>
          <p:grpSpPr>
            <a:xfrm>
              <a:off x="11582401" y="6349172"/>
              <a:ext cx="293510" cy="293510"/>
              <a:chOff x="6096000" y="530578"/>
              <a:chExt cx="428978" cy="428978"/>
            </a:xfrm>
          </p:grpSpPr>
          <p:sp>
            <p:nvSpPr>
              <p:cNvPr id="10" name="Oval 9">
                <a:extLst>
                  <a:ext uri="{FF2B5EF4-FFF2-40B4-BE49-F238E27FC236}">
                    <a16:creationId xmlns:a16="http://schemas.microsoft.com/office/drawing/2014/main" id="{49101DF7-7C9F-86B7-D8CC-94C46D19EE3D}"/>
                  </a:ext>
                </a:extLst>
              </p:cNvPr>
              <p:cNvSpPr/>
              <p:nvPr/>
            </p:nvSpPr>
            <p:spPr>
              <a:xfrm>
                <a:off x="6096000" y="530578"/>
                <a:ext cx="428978" cy="428978"/>
              </a:xfrm>
              <a:prstGeom prst="ellipse">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6DB2AD71-7378-63D6-5D63-4BC53CF51931}"/>
                  </a:ext>
                </a:extLst>
              </p:cNvPr>
              <p:cNvSpPr/>
              <p:nvPr/>
            </p:nvSpPr>
            <p:spPr>
              <a:xfrm rot="5400000">
                <a:off x="6231466" y="676944"/>
                <a:ext cx="158046" cy="13624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E9B95078-21D1-B184-A8C7-F8494DE69D25}"/>
                </a:ext>
              </a:extLst>
            </p:cNvPr>
            <p:cNvSpPr txBox="1"/>
            <p:nvPr/>
          </p:nvSpPr>
          <p:spPr>
            <a:xfrm>
              <a:off x="10463563" y="6342039"/>
              <a:ext cx="1168910" cy="307777"/>
            </a:xfrm>
            <a:prstGeom prst="rect">
              <a:avLst/>
            </a:prstGeom>
            <a:noFill/>
          </p:spPr>
          <p:txBody>
            <a:bodyPr wrap="none" rtlCol="0">
              <a:spAutoFit/>
            </a:bodyPr>
            <a:lstStyle/>
            <a:p>
              <a:r>
                <a:rPr lang="en-US" sz="1400" dirty="0">
                  <a:solidFill>
                    <a:schemeClr val="tx1">
                      <a:lumMod val="95000"/>
                      <a:lumOff val="5000"/>
                    </a:schemeClr>
                  </a:solidFill>
                  <a:latin typeface="Lora" pitchFamily="2" charset="0"/>
                </a:rPr>
                <a:t>Agricultural</a:t>
              </a:r>
            </a:p>
          </p:txBody>
        </p:sp>
      </p:grpSp>
      <p:grpSp>
        <p:nvGrpSpPr>
          <p:cNvPr id="17" name="Group 16">
            <a:extLst>
              <a:ext uri="{FF2B5EF4-FFF2-40B4-BE49-F238E27FC236}">
                <a16:creationId xmlns:a16="http://schemas.microsoft.com/office/drawing/2014/main" id="{4179C389-34A8-A99E-0695-99C614579ADE}"/>
              </a:ext>
            </a:extLst>
          </p:cNvPr>
          <p:cNvGrpSpPr/>
          <p:nvPr/>
        </p:nvGrpSpPr>
        <p:grpSpPr>
          <a:xfrm>
            <a:off x="11296539" y="106583"/>
            <a:ext cx="749433" cy="667421"/>
            <a:chOff x="11139222" y="235887"/>
            <a:chExt cx="749433" cy="667421"/>
          </a:xfrm>
        </p:grpSpPr>
        <p:sp>
          <p:nvSpPr>
            <p:cNvPr id="15" name="Rectangle 14">
              <a:extLst>
                <a:ext uri="{FF2B5EF4-FFF2-40B4-BE49-F238E27FC236}">
                  <a16:creationId xmlns:a16="http://schemas.microsoft.com/office/drawing/2014/main" id="{371489D0-5A7B-7E0C-6923-F1CB54E74FFB}"/>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26A47E-753D-845C-34C6-A687C92C502B}"/>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37644C19-451B-312D-341D-5CFE0B589C89}"/>
              </a:ext>
            </a:extLst>
          </p:cNvPr>
          <p:cNvGrpSpPr/>
          <p:nvPr/>
        </p:nvGrpSpPr>
        <p:grpSpPr>
          <a:xfrm>
            <a:off x="146028" y="106583"/>
            <a:ext cx="749433" cy="667421"/>
            <a:chOff x="11139222" y="235887"/>
            <a:chExt cx="749433" cy="667421"/>
          </a:xfrm>
        </p:grpSpPr>
        <p:sp>
          <p:nvSpPr>
            <p:cNvPr id="3" name="Rectangle 2">
              <a:extLst>
                <a:ext uri="{FF2B5EF4-FFF2-40B4-BE49-F238E27FC236}">
                  <a16:creationId xmlns:a16="http://schemas.microsoft.com/office/drawing/2014/main" id="{84D86904-81B0-9773-9FE5-E5617F9A97B0}"/>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EE9677B-7CF0-7350-EFC0-70CFB60E1552}"/>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37632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15F2-EF15-53F6-3037-0455FF093278}"/>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033A0285-DABC-1FE9-CF09-D398B42FD3B5}"/>
              </a:ext>
            </a:extLst>
          </p:cNvPr>
          <p:cNvSpPr>
            <a:spLocks noChangeArrowheads="1"/>
          </p:cNvSpPr>
          <p:nvPr/>
        </p:nvSpPr>
        <p:spPr bwMode="auto">
          <a:xfrm>
            <a:off x="890573" y="428277"/>
            <a:ext cx="10157445" cy="4981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200000"/>
              </a:lnSpc>
              <a:spcBef>
                <a:spcPts val="600"/>
              </a:spcBef>
              <a:spcAft>
                <a:spcPct val="0"/>
              </a:spcAft>
              <a:buClrTx/>
              <a:buSzTx/>
              <a:tabLst/>
            </a:pPr>
            <a:r>
              <a:rPr lang="en-US" sz="3600" b="1" dirty="0">
                <a:latin typeface="Copperplate Gothic Bold" panose="020E0705020206020404" pitchFamily="34" charset="0"/>
                <a:cs typeface="Times New Roman" panose="02020603050405020304" pitchFamily="18" charset="0"/>
              </a:rPr>
              <a:t>PROBLEM STATEMENTS</a:t>
            </a:r>
            <a:endParaRPr lang="en-US" sz="3600" b="1" i="0" dirty="0">
              <a:effectLst/>
              <a:latin typeface="Copperplate Gothic Bold" panose="020E0705020206020404" pitchFamily="34" charset="0"/>
              <a:cs typeface="Times New Roman" panose="02020603050405020304" pitchFamily="18" charset="0"/>
            </a:endParaRPr>
          </a:p>
          <a:p>
            <a:pPr marL="457200" indent="-457200" algn="just">
              <a:lnSpc>
                <a:spcPct val="200000"/>
              </a:lnSpc>
              <a:buFont typeface="Wingdings" panose="05000000000000000000" pitchFamily="2" charset="2"/>
              <a:buChar char="Ø"/>
            </a:pPr>
            <a:r>
              <a:rPr lang="en-US" sz="3200" dirty="0">
                <a:latin typeface="Agency FB" panose="020B0503020202020204" pitchFamily="34" charset="0"/>
                <a:cs typeface="Times New Roman" panose="02020603050405020304" pitchFamily="18" charset="0"/>
              </a:rPr>
              <a:t>To figure out insight on how climate change impact crop production. </a:t>
            </a:r>
          </a:p>
          <a:p>
            <a:pPr marL="457200" indent="-457200" algn="just">
              <a:lnSpc>
                <a:spcPct val="200000"/>
              </a:lnSpc>
              <a:buFont typeface="Wingdings" panose="05000000000000000000" pitchFamily="2" charset="2"/>
              <a:buChar char="Ø"/>
            </a:pPr>
            <a:r>
              <a:rPr lang="en-US" sz="3200" dirty="0">
                <a:latin typeface="Agency FB" panose="020B0503020202020204" pitchFamily="34" charset="0"/>
                <a:cs typeface="Times New Roman" panose="02020603050405020304" pitchFamily="18" charset="0"/>
              </a:rPr>
              <a:t>To reveal the factors influencing agricultural productivity</a:t>
            </a:r>
          </a:p>
          <a:p>
            <a:pPr marL="457200" indent="-457200" algn="just">
              <a:lnSpc>
                <a:spcPct val="200000"/>
              </a:lnSpc>
              <a:buFont typeface="Wingdings" panose="05000000000000000000" pitchFamily="2" charset="2"/>
              <a:buChar char="Ø"/>
            </a:pPr>
            <a:r>
              <a:rPr lang="en-US" sz="3200" dirty="0">
                <a:latin typeface="Agency FB" panose="020B0503020202020204" pitchFamily="34" charset="0"/>
                <a:cs typeface="Times New Roman" panose="02020603050405020304" pitchFamily="18" charset="0"/>
              </a:rPr>
              <a:t>To identify which variables most strongly drive high yields and economic returns.</a:t>
            </a:r>
          </a:p>
        </p:txBody>
      </p:sp>
      <p:grpSp>
        <p:nvGrpSpPr>
          <p:cNvPr id="14" name="Group 13">
            <a:extLst>
              <a:ext uri="{FF2B5EF4-FFF2-40B4-BE49-F238E27FC236}">
                <a16:creationId xmlns:a16="http://schemas.microsoft.com/office/drawing/2014/main" id="{D65179C6-0BC3-FD72-8E79-0E9AF108995D}"/>
              </a:ext>
            </a:extLst>
          </p:cNvPr>
          <p:cNvGrpSpPr/>
          <p:nvPr/>
        </p:nvGrpSpPr>
        <p:grpSpPr>
          <a:xfrm>
            <a:off x="10463563" y="6342039"/>
            <a:ext cx="1412348" cy="307777"/>
            <a:chOff x="10463563" y="6342039"/>
            <a:chExt cx="1412348" cy="307777"/>
          </a:xfrm>
        </p:grpSpPr>
        <p:grpSp>
          <p:nvGrpSpPr>
            <p:cNvPr id="12" name="Group 11">
              <a:extLst>
                <a:ext uri="{FF2B5EF4-FFF2-40B4-BE49-F238E27FC236}">
                  <a16:creationId xmlns:a16="http://schemas.microsoft.com/office/drawing/2014/main" id="{6C62D355-BF83-30A1-ACA1-24DFD03B8C52}"/>
                </a:ext>
              </a:extLst>
            </p:cNvPr>
            <p:cNvGrpSpPr/>
            <p:nvPr/>
          </p:nvGrpSpPr>
          <p:grpSpPr>
            <a:xfrm>
              <a:off x="11582401" y="6349172"/>
              <a:ext cx="293510" cy="293510"/>
              <a:chOff x="6096000" y="530578"/>
              <a:chExt cx="428978" cy="428978"/>
            </a:xfrm>
          </p:grpSpPr>
          <p:sp>
            <p:nvSpPr>
              <p:cNvPr id="10" name="Oval 9">
                <a:extLst>
                  <a:ext uri="{FF2B5EF4-FFF2-40B4-BE49-F238E27FC236}">
                    <a16:creationId xmlns:a16="http://schemas.microsoft.com/office/drawing/2014/main" id="{D5C147CF-6BF2-4F23-C717-78358FDF5EEC}"/>
                  </a:ext>
                </a:extLst>
              </p:cNvPr>
              <p:cNvSpPr/>
              <p:nvPr/>
            </p:nvSpPr>
            <p:spPr>
              <a:xfrm>
                <a:off x="6096000" y="530578"/>
                <a:ext cx="428978" cy="428978"/>
              </a:xfrm>
              <a:prstGeom prst="ellipse">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1B2E4400-15ED-84D6-925C-78C36A8A4B25}"/>
                  </a:ext>
                </a:extLst>
              </p:cNvPr>
              <p:cNvSpPr/>
              <p:nvPr/>
            </p:nvSpPr>
            <p:spPr>
              <a:xfrm rot="5400000">
                <a:off x="6231466" y="676944"/>
                <a:ext cx="158046" cy="13624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D636DBD6-5766-4C86-9B34-2B531D7DA114}"/>
                </a:ext>
              </a:extLst>
            </p:cNvPr>
            <p:cNvSpPr txBox="1"/>
            <p:nvPr/>
          </p:nvSpPr>
          <p:spPr>
            <a:xfrm>
              <a:off x="10463563" y="6342039"/>
              <a:ext cx="1168910" cy="307777"/>
            </a:xfrm>
            <a:prstGeom prst="rect">
              <a:avLst/>
            </a:prstGeom>
            <a:noFill/>
          </p:spPr>
          <p:txBody>
            <a:bodyPr wrap="none" rtlCol="0">
              <a:spAutoFit/>
            </a:bodyPr>
            <a:lstStyle/>
            <a:p>
              <a:r>
                <a:rPr lang="en-US" sz="1400" dirty="0">
                  <a:solidFill>
                    <a:schemeClr val="tx1">
                      <a:lumMod val="95000"/>
                      <a:lumOff val="5000"/>
                    </a:schemeClr>
                  </a:solidFill>
                  <a:latin typeface="Lora" pitchFamily="2" charset="0"/>
                </a:rPr>
                <a:t>Agricultural</a:t>
              </a:r>
            </a:p>
          </p:txBody>
        </p:sp>
      </p:grpSp>
      <p:grpSp>
        <p:nvGrpSpPr>
          <p:cNvPr id="17" name="Group 16">
            <a:extLst>
              <a:ext uri="{FF2B5EF4-FFF2-40B4-BE49-F238E27FC236}">
                <a16:creationId xmlns:a16="http://schemas.microsoft.com/office/drawing/2014/main" id="{ACB99766-B135-B53A-78F9-AED8D20897D9}"/>
              </a:ext>
            </a:extLst>
          </p:cNvPr>
          <p:cNvGrpSpPr/>
          <p:nvPr/>
        </p:nvGrpSpPr>
        <p:grpSpPr>
          <a:xfrm>
            <a:off x="11296539" y="106583"/>
            <a:ext cx="749433" cy="667421"/>
            <a:chOff x="11139222" y="235887"/>
            <a:chExt cx="749433" cy="667421"/>
          </a:xfrm>
        </p:grpSpPr>
        <p:sp>
          <p:nvSpPr>
            <p:cNvPr id="15" name="Rectangle 14">
              <a:extLst>
                <a:ext uri="{FF2B5EF4-FFF2-40B4-BE49-F238E27FC236}">
                  <a16:creationId xmlns:a16="http://schemas.microsoft.com/office/drawing/2014/main" id="{FF47A8E3-D680-413D-E9D5-98DDB14D48BF}"/>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A91992-E8EF-B39F-FD97-10C48C77B9DF}"/>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5714DB40-830E-1D9D-5C82-BC9DB432B3EC}"/>
              </a:ext>
            </a:extLst>
          </p:cNvPr>
          <p:cNvGrpSpPr/>
          <p:nvPr/>
        </p:nvGrpSpPr>
        <p:grpSpPr>
          <a:xfrm>
            <a:off x="490711" y="354939"/>
            <a:ext cx="749433" cy="667421"/>
            <a:chOff x="11139222" y="235887"/>
            <a:chExt cx="749433" cy="667421"/>
          </a:xfrm>
        </p:grpSpPr>
        <p:sp>
          <p:nvSpPr>
            <p:cNvPr id="3" name="Rectangle 2">
              <a:extLst>
                <a:ext uri="{FF2B5EF4-FFF2-40B4-BE49-F238E27FC236}">
                  <a16:creationId xmlns:a16="http://schemas.microsoft.com/office/drawing/2014/main" id="{2207D2DF-1DF4-BF22-44DF-5C159D0463F9}"/>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B7925D1-3165-D201-A0F9-C63B793D4BA6}"/>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558173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E3A6F-9FD1-83BE-7470-155DD59BB7DF}"/>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80086174-41DE-3E9B-D87D-D21623F902A1}"/>
              </a:ext>
            </a:extLst>
          </p:cNvPr>
          <p:cNvSpPr>
            <a:spLocks noChangeArrowheads="1"/>
          </p:cNvSpPr>
          <p:nvPr/>
        </p:nvSpPr>
        <p:spPr bwMode="auto">
          <a:xfrm>
            <a:off x="907673" y="368035"/>
            <a:ext cx="10186994" cy="6077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3600" b="1" dirty="0">
                <a:latin typeface="Copperplate Gothic Bold" panose="020E0705020206020404" pitchFamily="34" charset="0"/>
                <a:cs typeface="Times New Roman" panose="02020603050405020304" pitchFamily="18" charset="0"/>
              </a:rPr>
              <a:t>WHY THIS ANALYSIS MATTERS</a:t>
            </a:r>
          </a:p>
          <a:p>
            <a:pPr algn="ctr"/>
            <a:endParaRPr lang="en-US" sz="3600" b="1" dirty="0">
              <a:latin typeface="Agency FB" panose="020B0503020202020204" pitchFamily="34"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en-US" sz="3600" dirty="0">
                <a:latin typeface="Agency FB" panose="020B0503020202020204" pitchFamily="34" charset="0"/>
                <a:cs typeface="Times New Roman" panose="02020603050405020304" pitchFamily="18" charset="0"/>
              </a:rPr>
              <a:t>To understand what drives successful crop production.</a:t>
            </a:r>
          </a:p>
          <a:p>
            <a:pPr marL="457200" indent="-457200" algn="just">
              <a:lnSpc>
                <a:spcPct val="150000"/>
              </a:lnSpc>
              <a:buFont typeface="Wingdings" panose="05000000000000000000" pitchFamily="2" charset="2"/>
              <a:buChar char="Ø"/>
            </a:pPr>
            <a:r>
              <a:rPr lang="en-US" sz="3600" dirty="0">
                <a:latin typeface="Agency FB" panose="020B0503020202020204" pitchFamily="34" charset="0"/>
                <a:cs typeface="Times New Roman" panose="02020603050405020304" pitchFamily="18" charset="0"/>
              </a:rPr>
              <a:t>To pinpoint effective strategies and identify vulnerabilities. </a:t>
            </a:r>
          </a:p>
          <a:p>
            <a:pPr marL="457200" indent="-457200" algn="just">
              <a:lnSpc>
                <a:spcPct val="150000"/>
              </a:lnSpc>
              <a:buFont typeface="Wingdings" panose="05000000000000000000" pitchFamily="2" charset="2"/>
              <a:buChar char="Ø"/>
            </a:pPr>
            <a:r>
              <a:rPr lang="en-US" sz="3600" dirty="0">
                <a:latin typeface="Agency FB" panose="020B0503020202020204" pitchFamily="34" charset="0"/>
                <a:cs typeface="Times New Roman" panose="02020603050405020304" pitchFamily="18" charset="0"/>
              </a:rPr>
              <a:t>To help stakeholders make informed decisions that support resilient and sustainable agriculture.</a:t>
            </a:r>
          </a:p>
          <a:p>
            <a:pPr marL="457200" indent="-457200" algn="just">
              <a:lnSpc>
                <a:spcPct val="150000"/>
              </a:lnSpc>
              <a:buFont typeface="Wingdings" panose="05000000000000000000" pitchFamily="2" charset="2"/>
              <a:buChar char="Ø"/>
            </a:pPr>
            <a:r>
              <a:rPr lang="en-US" sz="3600" dirty="0">
                <a:latin typeface="Agency FB" panose="020B0503020202020204" pitchFamily="34" charset="0"/>
                <a:cs typeface="Times New Roman" panose="02020603050405020304" pitchFamily="18" charset="0"/>
              </a:rPr>
              <a:t>To promoting sustainable resource management amid climate change</a:t>
            </a:r>
          </a:p>
        </p:txBody>
      </p:sp>
      <p:grpSp>
        <p:nvGrpSpPr>
          <p:cNvPr id="14" name="Group 13">
            <a:extLst>
              <a:ext uri="{FF2B5EF4-FFF2-40B4-BE49-F238E27FC236}">
                <a16:creationId xmlns:a16="http://schemas.microsoft.com/office/drawing/2014/main" id="{E825BAA3-4757-D603-7308-37AE37A464DE}"/>
              </a:ext>
            </a:extLst>
          </p:cNvPr>
          <p:cNvGrpSpPr/>
          <p:nvPr/>
        </p:nvGrpSpPr>
        <p:grpSpPr>
          <a:xfrm>
            <a:off x="10463563" y="6342039"/>
            <a:ext cx="1412348" cy="307777"/>
            <a:chOff x="10463563" y="6342039"/>
            <a:chExt cx="1412348" cy="307777"/>
          </a:xfrm>
        </p:grpSpPr>
        <p:grpSp>
          <p:nvGrpSpPr>
            <p:cNvPr id="12" name="Group 11">
              <a:extLst>
                <a:ext uri="{FF2B5EF4-FFF2-40B4-BE49-F238E27FC236}">
                  <a16:creationId xmlns:a16="http://schemas.microsoft.com/office/drawing/2014/main" id="{3DD78CB2-4FA6-F6AC-22C7-52F0A7472101}"/>
                </a:ext>
              </a:extLst>
            </p:cNvPr>
            <p:cNvGrpSpPr/>
            <p:nvPr/>
          </p:nvGrpSpPr>
          <p:grpSpPr>
            <a:xfrm>
              <a:off x="11582401" y="6349172"/>
              <a:ext cx="293510" cy="293510"/>
              <a:chOff x="6096000" y="530578"/>
              <a:chExt cx="428978" cy="428978"/>
            </a:xfrm>
          </p:grpSpPr>
          <p:sp>
            <p:nvSpPr>
              <p:cNvPr id="10" name="Oval 9">
                <a:extLst>
                  <a:ext uri="{FF2B5EF4-FFF2-40B4-BE49-F238E27FC236}">
                    <a16:creationId xmlns:a16="http://schemas.microsoft.com/office/drawing/2014/main" id="{C2255300-4A4B-48A0-D976-5B81CB4F9FCC}"/>
                  </a:ext>
                </a:extLst>
              </p:cNvPr>
              <p:cNvSpPr/>
              <p:nvPr/>
            </p:nvSpPr>
            <p:spPr>
              <a:xfrm>
                <a:off x="6096000" y="530578"/>
                <a:ext cx="428978" cy="428978"/>
              </a:xfrm>
              <a:prstGeom prst="ellipse">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808D4F9D-A329-551D-90C9-C94270CAB41D}"/>
                  </a:ext>
                </a:extLst>
              </p:cNvPr>
              <p:cNvSpPr/>
              <p:nvPr/>
            </p:nvSpPr>
            <p:spPr>
              <a:xfrm rot="5400000">
                <a:off x="6231466" y="676944"/>
                <a:ext cx="158046" cy="13624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AEDCA1B8-652F-841E-C6EF-6D96BD324A07}"/>
                </a:ext>
              </a:extLst>
            </p:cNvPr>
            <p:cNvSpPr txBox="1"/>
            <p:nvPr/>
          </p:nvSpPr>
          <p:spPr>
            <a:xfrm>
              <a:off x="10463563" y="6342039"/>
              <a:ext cx="1168910" cy="307777"/>
            </a:xfrm>
            <a:prstGeom prst="rect">
              <a:avLst/>
            </a:prstGeom>
            <a:noFill/>
          </p:spPr>
          <p:txBody>
            <a:bodyPr wrap="none" rtlCol="0">
              <a:spAutoFit/>
            </a:bodyPr>
            <a:lstStyle/>
            <a:p>
              <a:r>
                <a:rPr lang="en-US" sz="1400" dirty="0">
                  <a:solidFill>
                    <a:schemeClr val="tx1">
                      <a:lumMod val="95000"/>
                      <a:lumOff val="5000"/>
                    </a:schemeClr>
                  </a:solidFill>
                  <a:latin typeface="Lora" pitchFamily="2" charset="0"/>
                </a:rPr>
                <a:t>Agricultural</a:t>
              </a:r>
            </a:p>
          </p:txBody>
        </p:sp>
      </p:grpSp>
      <p:grpSp>
        <p:nvGrpSpPr>
          <p:cNvPr id="17" name="Group 16">
            <a:extLst>
              <a:ext uri="{FF2B5EF4-FFF2-40B4-BE49-F238E27FC236}">
                <a16:creationId xmlns:a16="http://schemas.microsoft.com/office/drawing/2014/main" id="{89E2C547-BE13-D24B-3D1C-888BA9251AEE}"/>
              </a:ext>
            </a:extLst>
          </p:cNvPr>
          <p:cNvGrpSpPr/>
          <p:nvPr/>
        </p:nvGrpSpPr>
        <p:grpSpPr>
          <a:xfrm>
            <a:off x="11296539" y="106583"/>
            <a:ext cx="749433" cy="667421"/>
            <a:chOff x="11139222" y="235887"/>
            <a:chExt cx="749433" cy="667421"/>
          </a:xfrm>
        </p:grpSpPr>
        <p:sp>
          <p:nvSpPr>
            <p:cNvPr id="15" name="Rectangle 14">
              <a:extLst>
                <a:ext uri="{FF2B5EF4-FFF2-40B4-BE49-F238E27FC236}">
                  <a16:creationId xmlns:a16="http://schemas.microsoft.com/office/drawing/2014/main" id="{E3DE8180-F9C4-56A2-1A99-A95F9F5FB074}"/>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49DD68E-D2B4-5320-E896-1B08EDFAAD84}"/>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DCA2733E-070D-A80D-81F3-E74EE7F9ABEC}"/>
              </a:ext>
            </a:extLst>
          </p:cNvPr>
          <p:cNvGrpSpPr/>
          <p:nvPr/>
        </p:nvGrpSpPr>
        <p:grpSpPr>
          <a:xfrm>
            <a:off x="348145" y="255885"/>
            <a:ext cx="749433" cy="667421"/>
            <a:chOff x="11139222" y="235887"/>
            <a:chExt cx="749433" cy="667421"/>
          </a:xfrm>
        </p:grpSpPr>
        <p:sp>
          <p:nvSpPr>
            <p:cNvPr id="3" name="Rectangle 2">
              <a:extLst>
                <a:ext uri="{FF2B5EF4-FFF2-40B4-BE49-F238E27FC236}">
                  <a16:creationId xmlns:a16="http://schemas.microsoft.com/office/drawing/2014/main" id="{016893A1-2F47-5A8C-AA39-A767B1C94DD5}"/>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719E9D3-3DAA-254F-78F7-F24A7CADD2DD}"/>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011466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CC83-8223-A4ED-B6F9-77258515A554}"/>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0CB300C1-85C9-FC69-31AF-BB54F9C51E97}"/>
              </a:ext>
            </a:extLst>
          </p:cNvPr>
          <p:cNvSpPr>
            <a:spLocks noChangeArrowheads="1"/>
          </p:cNvSpPr>
          <p:nvPr/>
        </p:nvSpPr>
        <p:spPr bwMode="auto">
          <a:xfrm>
            <a:off x="1097579" y="923339"/>
            <a:ext cx="9891614"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3600" b="1" dirty="0">
                <a:latin typeface="Copperplate Gothic Bold" panose="020E0705020206020404" pitchFamily="34" charset="0"/>
                <a:cs typeface="Times New Roman" panose="02020603050405020304" pitchFamily="18" charset="0"/>
              </a:rPr>
              <a:t>OBJECTIVES</a:t>
            </a:r>
          </a:p>
          <a:p>
            <a:pPr algn="ctr"/>
            <a:endParaRPr lang="en-US" sz="2800" b="1" dirty="0">
              <a:latin typeface="Agency FB" panose="020B0503020202020204" pitchFamily="34" charset="0"/>
              <a:cs typeface="Times New Roman" panose="02020603050405020304" pitchFamily="18" charset="0"/>
            </a:endParaRPr>
          </a:p>
          <a:p>
            <a:pPr algn="just"/>
            <a:endParaRPr lang="en-US" sz="2800" dirty="0">
              <a:latin typeface="Agency FB" panose="020B0503020202020204" pitchFamily="34" charset="0"/>
              <a:cs typeface="Times New Roman" panose="02020603050405020304" pitchFamily="18" charset="0"/>
            </a:endParaRPr>
          </a:p>
          <a:p>
            <a:pPr marL="457200" indent="-457200" algn="just">
              <a:buFont typeface="Wingdings" panose="05000000000000000000" pitchFamily="2" charset="2"/>
              <a:buChar char="Ø"/>
            </a:pPr>
            <a:r>
              <a:rPr lang="en-US" sz="3200" dirty="0">
                <a:latin typeface="Agency FB" panose="020B0503020202020204" pitchFamily="34" charset="0"/>
                <a:cs typeface="Times New Roman" panose="02020603050405020304" pitchFamily="18" charset="0"/>
              </a:rPr>
              <a:t>To examine crop yields in relation to climate change</a:t>
            </a:r>
          </a:p>
          <a:p>
            <a:pPr algn="just"/>
            <a:endParaRPr lang="en-US" sz="3200" dirty="0">
              <a:latin typeface="Agency FB" panose="020B0503020202020204" pitchFamily="34" charset="0"/>
              <a:cs typeface="Times New Roman" panose="02020603050405020304" pitchFamily="18" charset="0"/>
            </a:endParaRPr>
          </a:p>
          <a:p>
            <a:pPr marL="457200" indent="-457200" algn="just">
              <a:buFont typeface="Wingdings" panose="05000000000000000000" pitchFamily="2" charset="2"/>
              <a:buChar char="Ø"/>
            </a:pPr>
            <a:r>
              <a:rPr lang="en-US" sz="3200" dirty="0">
                <a:latin typeface="Agency FB" panose="020B0503020202020204" pitchFamily="34" charset="0"/>
                <a:cs typeface="Times New Roman" panose="02020603050405020304" pitchFamily="18" charset="0"/>
              </a:rPr>
              <a:t>To uncover the key factors behind agricultural productivity </a:t>
            </a:r>
          </a:p>
          <a:p>
            <a:pPr algn="just"/>
            <a:endParaRPr lang="en-US" sz="3200" dirty="0">
              <a:latin typeface="Agency FB" panose="020B0503020202020204" pitchFamily="34" charset="0"/>
              <a:cs typeface="Times New Roman" panose="02020603050405020304" pitchFamily="18" charset="0"/>
            </a:endParaRPr>
          </a:p>
          <a:p>
            <a:pPr marL="457200" indent="-457200" algn="just">
              <a:buFont typeface="Wingdings" panose="05000000000000000000" pitchFamily="2" charset="2"/>
              <a:buChar char="Ø"/>
            </a:pPr>
            <a:r>
              <a:rPr lang="en-US" sz="3200" dirty="0">
                <a:latin typeface="Agency FB" panose="020B0503020202020204" pitchFamily="34" charset="0"/>
                <a:cs typeface="Times New Roman" panose="02020603050405020304" pitchFamily="18" charset="0"/>
              </a:rPr>
              <a:t> To figure out operational practices related to economic factors.</a:t>
            </a:r>
          </a:p>
          <a:p>
            <a:pPr algn="just"/>
            <a:endParaRPr lang="en-US" sz="3200" dirty="0">
              <a:latin typeface="Agency FB" panose="020B0503020202020204" pitchFamily="34" charset="0"/>
              <a:cs typeface="Times New Roman" panose="02020603050405020304" pitchFamily="18" charset="0"/>
            </a:endParaRPr>
          </a:p>
        </p:txBody>
      </p:sp>
      <p:grpSp>
        <p:nvGrpSpPr>
          <p:cNvPr id="14" name="Group 13">
            <a:extLst>
              <a:ext uri="{FF2B5EF4-FFF2-40B4-BE49-F238E27FC236}">
                <a16:creationId xmlns:a16="http://schemas.microsoft.com/office/drawing/2014/main" id="{D0C2AFB8-67CF-47C9-B448-9D43C76D5349}"/>
              </a:ext>
            </a:extLst>
          </p:cNvPr>
          <p:cNvGrpSpPr/>
          <p:nvPr/>
        </p:nvGrpSpPr>
        <p:grpSpPr>
          <a:xfrm>
            <a:off x="10463563" y="6342039"/>
            <a:ext cx="1412348" cy="307777"/>
            <a:chOff x="10463563" y="6342039"/>
            <a:chExt cx="1412348" cy="307777"/>
          </a:xfrm>
        </p:grpSpPr>
        <p:grpSp>
          <p:nvGrpSpPr>
            <p:cNvPr id="12" name="Group 11">
              <a:extLst>
                <a:ext uri="{FF2B5EF4-FFF2-40B4-BE49-F238E27FC236}">
                  <a16:creationId xmlns:a16="http://schemas.microsoft.com/office/drawing/2014/main" id="{9FB24E2B-8E9F-8CF8-B408-9D24F55548FD}"/>
                </a:ext>
              </a:extLst>
            </p:cNvPr>
            <p:cNvGrpSpPr/>
            <p:nvPr/>
          </p:nvGrpSpPr>
          <p:grpSpPr>
            <a:xfrm>
              <a:off x="11582401" y="6349172"/>
              <a:ext cx="293510" cy="293510"/>
              <a:chOff x="6096000" y="530578"/>
              <a:chExt cx="428978" cy="428978"/>
            </a:xfrm>
          </p:grpSpPr>
          <p:sp>
            <p:nvSpPr>
              <p:cNvPr id="10" name="Oval 9">
                <a:extLst>
                  <a:ext uri="{FF2B5EF4-FFF2-40B4-BE49-F238E27FC236}">
                    <a16:creationId xmlns:a16="http://schemas.microsoft.com/office/drawing/2014/main" id="{2FF9EB49-AE0F-126A-3BA1-AD8777A4A637}"/>
                  </a:ext>
                </a:extLst>
              </p:cNvPr>
              <p:cNvSpPr/>
              <p:nvPr/>
            </p:nvSpPr>
            <p:spPr>
              <a:xfrm>
                <a:off x="6096000" y="530578"/>
                <a:ext cx="428978" cy="428978"/>
              </a:xfrm>
              <a:prstGeom prst="ellipse">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7E21B622-7005-D59F-D8AA-33576C6F28FC}"/>
                  </a:ext>
                </a:extLst>
              </p:cNvPr>
              <p:cNvSpPr/>
              <p:nvPr/>
            </p:nvSpPr>
            <p:spPr>
              <a:xfrm rot="5400000">
                <a:off x="6231466" y="676944"/>
                <a:ext cx="158046" cy="13624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8F486D97-8B06-C6B0-6CB0-3BBEC1E200D3}"/>
                </a:ext>
              </a:extLst>
            </p:cNvPr>
            <p:cNvSpPr txBox="1"/>
            <p:nvPr/>
          </p:nvSpPr>
          <p:spPr>
            <a:xfrm>
              <a:off x="10463563" y="6342039"/>
              <a:ext cx="1168910" cy="307777"/>
            </a:xfrm>
            <a:prstGeom prst="rect">
              <a:avLst/>
            </a:prstGeom>
            <a:noFill/>
          </p:spPr>
          <p:txBody>
            <a:bodyPr wrap="none" rtlCol="0">
              <a:spAutoFit/>
            </a:bodyPr>
            <a:lstStyle/>
            <a:p>
              <a:r>
                <a:rPr lang="en-US" sz="1400" dirty="0">
                  <a:solidFill>
                    <a:schemeClr val="tx1">
                      <a:lumMod val="95000"/>
                      <a:lumOff val="5000"/>
                    </a:schemeClr>
                  </a:solidFill>
                  <a:latin typeface="Lora" pitchFamily="2" charset="0"/>
                </a:rPr>
                <a:t>Agricultural</a:t>
              </a:r>
            </a:p>
          </p:txBody>
        </p:sp>
      </p:grpSp>
      <p:grpSp>
        <p:nvGrpSpPr>
          <p:cNvPr id="17" name="Group 16">
            <a:extLst>
              <a:ext uri="{FF2B5EF4-FFF2-40B4-BE49-F238E27FC236}">
                <a16:creationId xmlns:a16="http://schemas.microsoft.com/office/drawing/2014/main" id="{005D8AAD-96EC-900D-9162-C3743ECB69EE}"/>
              </a:ext>
            </a:extLst>
          </p:cNvPr>
          <p:cNvGrpSpPr/>
          <p:nvPr/>
        </p:nvGrpSpPr>
        <p:grpSpPr>
          <a:xfrm>
            <a:off x="11296539" y="106583"/>
            <a:ext cx="749433" cy="667421"/>
            <a:chOff x="11139222" y="235887"/>
            <a:chExt cx="749433" cy="667421"/>
          </a:xfrm>
        </p:grpSpPr>
        <p:sp>
          <p:nvSpPr>
            <p:cNvPr id="15" name="Rectangle 14">
              <a:extLst>
                <a:ext uri="{FF2B5EF4-FFF2-40B4-BE49-F238E27FC236}">
                  <a16:creationId xmlns:a16="http://schemas.microsoft.com/office/drawing/2014/main" id="{3FE8C7D2-B3C2-4581-71C3-10C0905995C4}"/>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46EBF70-748C-9F29-9FF5-7E9A719B475E}"/>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D8C1A603-83A7-B2DD-AE53-E4D60ECB44E9}"/>
              </a:ext>
            </a:extLst>
          </p:cNvPr>
          <p:cNvGrpSpPr/>
          <p:nvPr/>
        </p:nvGrpSpPr>
        <p:grpSpPr>
          <a:xfrm>
            <a:off x="348145" y="255885"/>
            <a:ext cx="749433" cy="667421"/>
            <a:chOff x="11139222" y="235887"/>
            <a:chExt cx="749433" cy="667421"/>
          </a:xfrm>
        </p:grpSpPr>
        <p:sp>
          <p:nvSpPr>
            <p:cNvPr id="3" name="Rectangle 2">
              <a:extLst>
                <a:ext uri="{FF2B5EF4-FFF2-40B4-BE49-F238E27FC236}">
                  <a16:creationId xmlns:a16="http://schemas.microsoft.com/office/drawing/2014/main" id="{1AB8F6EE-D141-04C8-CD80-9D5C31355FE8}"/>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D343CAF-08D5-C958-EADB-E06E7573370F}"/>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088561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
            <a:extLst>
              <a:ext uri="{FF2B5EF4-FFF2-40B4-BE49-F238E27FC236}">
                <a16:creationId xmlns:a16="http://schemas.microsoft.com/office/drawing/2014/main" id="{CE483E80-D8FE-6BB0-BDD3-B372147735EF}"/>
              </a:ext>
            </a:extLst>
          </p:cNvPr>
          <p:cNvSpPr>
            <a:spLocks noChangeArrowheads="1"/>
          </p:cNvSpPr>
          <p:nvPr/>
        </p:nvSpPr>
        <p:spPr bwMode="auto">
          <a:xfrm>
            <a:off x="1555845" y="488258"/>
            <a:ext cx="9584267" cy="81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spcBef>
                <a:spcPts val="600"/>
              </a:spcBef>
              <a:spcAft>
                <a:spcPct val="0"/>
              </a:spcAft>
              <a:buClrTx/>
              <a:buSzTx/>
              <a:buFontTx/>
              <a:buNone/>
              <a:tabLst/>
            </a:pPr>
            <a:r>
              <a:rPr lang="en-US" sz="2400" b="1" dirty="0">
                <a:latin typeface="Times New Roman" panose="02020603050405020304" pitchFamily="18" charset="0"/>
                <a:cs typeface="Times New Roman" panose="02020603050405020304" pitchFamily="18" charset="0"/>
              </a:rPr>
              <a:t>METHODOLOGY</a:t>
            </a:r>
          </a:p>
          <a:p>
            <a:pPr marL="0" marR="0" lvl="0" indent="0" algn="ctr" defTabSz="914400" rtl="0" eaLnBrk="0" fontAlgn="base" latinLnBrk="0" hangingPunct="0">
              <a:spcBef>
                <a:spcPts val="600"/>
              </a:spcBef>
              <a:spcAft>
                <a:spcPct val="0"/>
              </a:spcAft>
              <a:buClrTx/>
              <a:buSzTx/>
              <a:buFontTx/>
              <a:buNone/>
              <a:tabLst/>
            </a:pPr>
            <a:endParaRPr lang="en-US" dirty="0"/>
          </a:p>
        </p:txBody>
      </p:sp>
      <p:grpSp>
        <p:nvGrpSpPr>
          <p:cNvPr id="14" name="Group 13">
            <a:extLst>
              <a:ext uri="{FF2B5EF4-FFF2-40B4-BE49-F238E27FC236}">
                <a16:creationId xmlns:a16="http://schemas.microsoft.com/office/drawing/2014/main" id="{31C1C50D-D13E-CDED-A4FD-B9A9BD216738}"/>
              </a:ext>
            </a:extLst>
          </p:cNvPr>
          <p:cNvGrpSpPr/>
          <p:nvPr/>
        </p:nvGrpSpPr>
        <p:grpSpPr>
          <a:xfrm>
            <a:off x="10463563" y="6342039"/>
            <a:ext cx="1412348" cy="307777"/>
            <a:chOff x="10463563" y="6342039"/>
            <a:chExt cx="1412348" cy="307777"/>
          </a:xfrm>
        </p:grpSpPr>
        <p:grpSp>
          <p:nvGrpSpPr>
            <p:cNvPr id="12" name="Group 11">
              <a:extLst>
                <a:ext uri="{FF2B5EF4-FFF2-40B4-BE49-F238E27FC236}">
                  <a16:creationId xmlns:a16="http://schemas.microsoft.com/office/drawing/2014/main" id="{450AA3AE-ADA1-B1A1-61CE-ED2E1C97B63C}"/>
                </a:ext>
              </a:extLst>
            </p:cNvPr>
            <p:cNvGrpSpPr/>
            <p:nvPr/>
          </p:nvGrpSpPr>
          <p:grpSpPr>
            <a:xfrm>
              <a:off x="11582401" y="6349172"/>
              <a:ext cx="293510" cy="293510"/>
              <a:chOff x="6096000" y="530578"/>
              <a:chExt cx="428978" cy="428978"/>
            </a:xfrm>
          </p:grpSpPr>
          <p:sp>
            <p:nvSpPr>
              <p:cNvPr id="10" name="Oval 9">
                <a:extLst>
                  <a:ext uri="{FF2B5EF4-FFF2-40B4-BE49-F238E27FC236}">
                    <a16:creationId xmlns:a16="http://schemas.microsoft.com/office/drawing/2014/main" id="{A48F088B-6870-1334-CB97-47318A6689C2}"/>
                  </a:ext>
                </a:extLst>
              </p:cNvPr>
              <p:cNvSpPr/>
              <p:nvPr/>
            </p:nvSpPr>
            <p:spPr>
              <a:xfrm>
                <a:off x="6096000" y="530578"/>
                <a:ext cx="428978" cy="428978"/>
              </a:xfrm>
              <a:prstGeom prst="ellipse">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E535A82A-D72E-6722-07A1-8ACC2E6D52A7}"/>
                  </a:ext>
                </a:extLst>
              </p:cNvPr>
              <p:cNvSpPr/>
              <p:nvPr/>
            </p:nvSpPr>
            <p:spPr>
              <a:xfrm rot="5400000">
                <a:off x="6231466" y="676944"/>
                <a:ext cx="158046" cy="13624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60DE0B5F-072F-0083-FD0D-1B43E99BDDB0}"/>
                </a:ext>
              </a:extLst>
            </p:cNvPr>
            <p:cNvSpPr txBox="1"/>
            <p:nvPr/>
          </p:nvSpPr>
          <p:spPr>
            <a:xfrm>
              <a:off x="10463563" y="6342039"/>
              <a:ext cx="1168910" cy="307777"/>
            </a:xfrm>
            <a:prstGeom prst="rect">
              <a:avLst/>
            </a:prstGeom>
            <a:noFill/>
          </p:spPr>
          <p:txBody>
            <a:bodyPr wrap="none" rtlCol="0">
              <a:spAutoFit/>
            </a:bodyPr>
            <a:lstStyle/>
            <a:p>
              <a:r>
                <a:rPr lang="en-US" sz="1400" dirty="0">
                  <a:solidFill>
                    <a:schemeClr val="tx1">
                      <a:lumMod val="95000"/>
                      <a:lumOff val="5000"/>
                    </a:schemeClr>
                  </a:solidFill>
                  <a:latin typeface="Lora" pitchFamily="2" charset="0"/>
                </a:rPr>
                <a:t>Agricultural</a:t>
              </a:r>
            </a:p>
          </p:txBody>
        </p:sp>
      </p:grpSp>
      <p:grpSp>
        <p:nvGrpSpPr>
          <p:cNvPr id="17" name="Group 16">
            <a:extLst>
              <a:ext uri="{FF2B5EF4-FFF2-40B4-BE49-F238E27FC236}">
                <a16:creationId xmlns:a16="http://schemas.microsoft.com/office/drawing/2014/main" id="{7F56EDD0-704F-15BE-35E6-9035E6F75B88}"/>
              </a:ext>
            </a:extLst>
          </p:cNvPr>
          <p:cNvGrpSpPr/>
          <p:nvPr/>
        </p:nvGrpSpPr>
        <p:grpSpPr>
          <a:xfrm>
            <a:off x="11296539" y="106583"/>
            <a:ext cx="749433" cy="667421"/>
            <a:chOff x="11139222" y="235887"/>
            <a:chExt cx="749433" cy="667421"/>
          </a:xfrm>
        </p:grpSpPr>
        <p:sp>
          <p:nvSpPr>
            <p:cNvPr id="15" name="Rectangle 14">
              <a:extLst>
                <a:ext uri="{FF2B5EF4-FFF2-40B4-BE49-F238E27FC236}">
                  <a16:creationId xmlns:a16="http://schemas.microsoft.com/office/drawing/2014/main" id="{E81893B9-AF1D-9614-29BC-B432650EDB41}"/>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D6DB8D9-C5C8-45C1-DAD0-29364040BDE6}"/>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2F50F4AD-35B9-244C-A3E4-B4D3BBCDBA73}"/>
              </a:ext>
            </a:extLst>
          </p:cNvPr>
          <p:cNvSpPr txBox="1"/>
          <p:nvPr/>
        </p:nvSpPr>
        <p:spPr>
          <a:xfrm>
            <a:off x="4559475" y="1324800"/>
            <a:ext cx="2322140" cy="584775"/>
          </a:xfrm>
          <a:prstGeom prst="rect">
            <a:avLst/>
          </a:prstGeom>
          <a:noFill/>
          <a:ln w="38100">
            <a:solidFill>
              <a:schemeClr val="accent1"/>
            </a:solidFill>
          </a:ln>
        </p:spPr>
        <p:txBody>
          <a:bodyPr wrap="square" rtlCol="0">
            <a:spAutoFit/>
          </a:bodyPr>
          <a:lstStyle/>
          <a:p>
            <a:pPr algn="ctr"/>
            <a:r>
              <a:rPr lang="en-US" sz="1600" dirty="0">
                <a:latin typeface="Copperplate Gothic Bold" panose="020E0705020206020404" pitchFamily="34" charset="0"/>
              </a:rPr>
              <a:t>DATA </a:t>
            </a:r>
          </a:p>
          <a:p>
            <a:pPr algn="ctr"/>
            <a:r>
              <a:rPr lang="en-US" sz="1600" dirty="0">
                <a:latin typeface="Copperplate Gothic Bold" panose="020E0705020206020404" pitchFamily="34" charset="0"/>
              </a:rPr>
              <a:t>UNDERSTANDING</a:t>
            </a:r>
          </a:p>
        </p:txBody>
      </p:sp>
      <p:sp>
        <p:nvSpPr>
          <p:cNvPr id="3" name="TextBox 2">
            <a:extLst>
              <a:ext uri="{FF2B5EF4-FFF2-40B4-BE49-F238E27FC236}">
                <a16:creationId xmlns:a16="http://schemas.microsoft.com/office/drawing/2014/main" id="{2AA3F8D2-DDC8-7331-E611-F3F8E32E46B7}"/>
              </a:ext>
            </a:extLst>
          </p:cNvPr>
          <p:cNvSpPr txBox="1"/>
          <p:nvPr/>
        </p:nvSpPr>
        <p:spPr>
          <a:xfrm>
            <a:off x="7866453" y="2877803"/>
            <a:ext cx="1814084" cy="646331"/>
          </a:xfrm>
          <a:prstGeom prst="rect">
            <a:avLst/>
          </a:prstGeom>
          <a:noFill/>
          <a:ln w="38100">
            <a:solidFill>
              <a:schemeClr val="accent1"/>
            </a:solidFill>
          </a:ln>
        </p:spPr>
        <p:txBody>
          <a:bodyPr wrap="square" rtlCol="0">
            <a:spAutoFit/>
          </a:bodyPr>
          <a:lstStyle/>
          <a:p>
            <a:pPr algn="ctr"/>
            <a:r>
              <a:rPr lang="en-US" dirty="0">
                <a:latin typeface="Copperplate Gothic Bold" panose="020E0705020206020404" pitchFamily="34" charset="0"/>
              </a:rPr>
              <a:t>DATA </a:t>
            </a:r>
          </a:p>
          <a:p>
            <a:pPr algn="ctr"/>
            <a:r>
              <a:rPr lang="en-US" dirty="0">
                <a:latin typeface="Copperplate Gothic Bold" panose="020E0705020206020404" pitchFamily="34" charset="0"/>
              </a:rPr>
              <a:t>CLEANING</a:t>
            </a:r>
          </a:p>
        </p:txBody>
      </p:sp>
      <p:sp>
        <p:nvSpPr>
          <p:cNvPr id="6" name="TextBox 5">
            <a:extLst>
              <a:ext uri="{FF2B5EF4-FFF2-40B4-BE49-F238E27FC236}">
                <a16:creationId xmlns:a16="http://schemas.microsoft.com/office/drawing/2014/main" id="{FFF4D119-D2A0-8998-7F2D-09B29AD18268}"/>
              </a:ext>
            </a:extLst>
          </p:cNvPr>
          <p:cNvSpPr txBox="1"/>
          <p:nvPr/>
        </p:nvSpPr>
        <p:spPr>
          <a:xfrm>
            <a:off x="6498979" y="4793946"/>
            <a:ext cx="1944096" cy="584775"/>
          </a:xfrm>
          <a:prstGeom prst="rect">
            <a:avLst/>
          </a:prstGeom>
          <a:noFill/>
          <a:ln w="38100">
            <a:solidFill>
              <a:schemeClr val="accent1"/>
            </a:solidFill>
          </a:ln>
        </p:spPr>
        <p:txBody>
          <a:bodyPr wrap="square" rtlCol="0">
            <a:spAutoFit/>
          </a:bodyPr>
          <a:lstStyle/>
          <a:p>
            <a:pPr algn="ctr"/>
            <a:r>
              <a:rPr lang="en-US" sz="1600" dirty="0">
                <a:latin typeface="Copperplate Gothic Bold" panose="020E0705020206020404" pitchFamily="34" charset="0"/>
              </a:rPr>
              <a:t>DATA</a:t>
            </a:r>
          </a:p>
          <a:p>
            <a:pPr algn="ctr"/>
            <a:r>
              <a:rPr lang="en-US" sz="1600" dirty="0">
                <a:latin typeface="Copperplate Gothic Bold" panose="020E0705020206020404" pitchFamily="34" charset="0"/>
              </a:rPr>
              <a:t>MODELING</a:t>
            </a:r>
          </a:p>
        </p:txBody>
      </p:sp>
      <p:sp>
        <p:nvSpPr>
          <p:cNvPr id="7" name="TextBox 6">
            <a:extLst>
              <a:ext uri="{FF2B5EF4-FFF2-40B4-BE49-F238E27FC236}">
                <a16:creationId xmlns:a16="http://schemas.microsoft.com/office/drawing/2014/main" id="{7ACFD6B6-7E61-4817-147C-64B1C12C46CF}"/>
              </a:ext>
            </a:extLst>
          </p:cNvPr>
          <p:cNvSpPr txBox="1"/>
          <p:nvPr/>
        </p:nvSpPr>
        <p:spPr>
          <a:xfrm>
            <a:off x="3559295" y="4756092"/>
            <a:ext cx="1391586" cy="584775"/>
          </a:xfrm>
          <a:prstGeom prst="rect">
            <a:avLst/>
          </a:prstGeom>
          <a:noFill/>
          <a:ln w="38100">
            <a:solidFill>
              <a:schemeClr val="accent1"/>
            </a:solidFill>
          </a:ln>
        </p:spPr>
        <p:txBody>
          <a:bodyPr wrap="square" rtlCol="0">
            <a:spAutoFit/>
          </a:bodyPr>
          <a:lstStyle/>
          <a:p>
            <a:pPr algn="ctr"/>
            <a:r>
              <a:rPr lang="en-US" sz="1600" dirty="0">
                <a:latin typeface="Copperplate Gothic Bold" panose="020E0705020206020404" pitchFamily="34" charset="0"/>
              </a:rPr>
              <a:t>DATA</a:t>
            </a:r>
          </a:p>
          <a:p>
            <a:pPr algn="ctr"/>
            <a:r>
              <a:rPr lang="en-US" sz="1600" dirty="0">
                <a:latin typeface="Copperplate Gothic Bold" panose="020E0705020206020404" pitchFamily="34" charset="0"/>
              </a:rPr>
              <a:t>ANALYSIS</a:t>
            </a:r>
          </a:p>
        </p:txBody>
      </p:sp>
      <p:sp>
        <p:nvSpPr>
          <p:cNvPr id="8" name="TextBox 7">
            <a:extLst>
              <a:ext uri="{FF2B5EF4-FFF2-40B4-BE49-F238E27FC236}">
                <a16:creationId xmlns:a16="http://schemas.microsoft.com/office/drawing/2014/main" id="{3862E821-F257-F86A-DE64-EC6E259EACD5}"/>
              </a:ext>
            </a:extLst>
          </p:cNvPr>
          <p:cNvSpPr txBox="1"/>
          <p:nvPr/>
        </p:nvSpPr>
        <p:spPr>
          <a:xfrm>
            <a:off x="1707976" y="2936564"/>
            <a:ext cx="1391586" cy="584775"/>
          </a:xfrm>
          <a:prstGeom prst="rect">
            <a:avLst/>
          </a:prstGeom>
          <a:noFill/>
          <a:ln w="38100">
            <a:solidFill>
              <a:schemeClr val="accent1"/>
            </a:solidFill>
          </a:ln>
        </p:spPr>
        <p:txBody>
          <a:bodyPr wrap="square" rtlCol="0">
            <a:spAutoFit/>
          </a:bodyPr>
          <a:lstStyle/>
          <a:p>
            <a:pPr algn="ctr"/>
            <a:r>
              <a:rPr lang="en-US" sz="1600" dirty="0">
                <a:latin typeface="Copperplate Gothic Bold" panose="020E0705020206020404" pitchFamily="34" charset="0"/>
              </a:rPr>
              <a:t>UNCOVER</a:t>
            </a:r>
          </a:p>
          <a:p>
            <a:pPr algn="ctr"/>
            <a:r>
              <a:rPr lang="en-US" sz="1600" dirty="0">
                <a:latin typeface="Copperplate Gothic Bold" panose="020E0705020206020404" pitchFamily="34" charset="0"/>
              </a:rPr>
              <a:t>INSIGHTS</a:t>
            </a:r>
          </a:p>
        </p:txBody>
      </p:sp>
      <p:sp>
        <p:nvSpPr>
          <p:cNvPr id="22" name="Rectangle 1">
            <a:extLst>
              <a:ext uri="{FF2B5EF4-FFF2-40B4-BE49-F238E27FC236}">
                <a16:creationId xmlns:a16="http://schemas.microsoft.com/office/drawing/2014/main" id="{8524ED69-503F-DFCA-953B-31EF6603C368}"/>
              </a:ext>
            </a:extLst>
          </p:cNvPr>
          <p:cNvSpPr>
            <a:spLocks noChangeArrowheads="1"/>
          </p:cNvSpPr>
          <p:nvPr/>
        </p:nvSpPr>
        <p:spPr bwMode="auto">
          <a:xfrm>
            <a:off x="871893" y="2948604"/>
            <a:ext cx="9584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spcBef>
                <a:spcPts val="600"/>
              </a:spcBef>
              <a:spcAft>
                <a:spcPct val="0"/>
              </a:spcAft>
              <a:buClrTx/>
              <a:buSzTx/>
              <a:buFontTx/>
              <a:buNone/>
              <a:tabLst/>
            </a:pPr>
            <a:r>
              <a:rPr lang="en-US" sz="2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opperplate Gothic Bold" panose="020E0705020206020404" pitchFamily="34" charset="0"/>
                <a:cs typeface="Times New Roman" panose="02020603050405020304" pitchFamily="18" charset="0"/>
              </a:rPr>
              <a:t>METHODOLOGY</a:t>
            </a:r>
            <a:endPar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opperplate Gothic Bold" panose="020E0705020206020404" pitchFamily="34" charset="0"/>
            </a:endParaRPr>
          </a:p>
        </p:txBody>
      </p:sp>
      <p:sp>
        <p:nvSpPr>
          <p:cNvPr id="5" name="Arrow: Curved Down 4">
            <a:extLst>
              <a:ext uri="{FF2B5EF4-FFF2-40B4-BE49-F238E27FC236}">
                <a16:creationId xmlns:a16="http://schemas.microsoft.com/office/drawing/2014/main" id="{55E2AB29-A950-6D93-AE7A-DABB3A633040}"/>
              </a:ext>
            </a:extLst>
          </p:cNvPr>
          <p:cNvSpPr/>
          <p:nvPr/>
        </p:nvSpPr>
        <p:spPr>
          <a:xfrm rot="2411540">
            <a:off x="6916886" y="1593835"/>
            <a:ext cx="2199137" cy="73152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Arrow: Curved Down 22">
            <a:extLst>
              <a:ext uri="{FF2B5EF4-FFF2-40B4-BE49-F238E27FC236}">
                <a16:creationId xmlns:a16="http://schemas.microsoft.com/office/drawing/2014/main" id="{9900BF7A-F248-6E33-E74E-94354396CBAC}"/>
              </a:ext>
            </a:extLst>
          </p:cNvPr>
          <p:cNvSpPr/>
          <p:nvPr/>
        </p:nvSpPr>
        <p:spPr>
          <a:xfrm rot="6703012">
            <a:off x="8212808" y="4088839"/>
            <a:ext cx="1646587" cy="73152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Arrow: Curved Down 23">
            <a:extLst>
              <a:ext uri="{FF2B5EF4-FFF2-40B4-BE49-F238E27FC236}">
                <a16:creationId xmlns:a16="http://schemas.microsoft.com/office/drawing/2014/main" id="{1A171EC1-4CF3-B691-00E6-4C0404866ACF}"/>
              </a:ext>
            </a:extLst>
          </p:cNvPr>
          <p:cNvSpPr/>
          <p:nvPr/>
        </p:nvSpPr>
        <p:spPr>
          <a:xfrm rot="10800000">
            <a:off x="4810039" y="5378721"/>
            <a:ext cx="1768433" cy="66545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Arrow: Curved Down 24">
            <a:extLst>
              <a:ext uri="{FF2B5EF4-FFF2-40B4-BE49-F238E27FC236}">
                <a16:creationId xmlns:a16="http://schemas.microsoft.com/office/drawing/2014/main" id="{23D30CD1-E618-0B9E-8520-717F77CD545B}"/>
              </a:ext>
            </a:extLst>
          </p:cNvPr>
          <p:cNvSpPr/>
          <p:nvPr/>
        </p:nvSpPr>
        <p:spPr>
          <a:xfrm rot="14147930">
            <a:off x="1570890" y="4123065"/>
            <a:ext cx="2088252" cy="77415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6" name="Group 25">
            <a:extLst>
              <a:ext uri="{FF2B5EF4-FFF2-40B4-BE49-F238E27FC236}">
                <a16:creationId xmlns:a16="http://schemas.microsoft.com/office/drawing/2014/main" id="{42E2E8F7-227D-4C73-7324-A3349C992C97}"/>
              </a:ext>
            </a:extLst>
          </p:cNvPr>
          <p:cNvGrpSpPr/>
          <p:nvPr/>
        </p:nvGrpSpPr>
        <p:grpSpPr>
          <a:xfrm>
            <a:off x="386005" y="235627"/>
            <a:ext cx="749433" cy="667421"/>
            <a:chOff x="11139222" y="235887"/>
            <a:chExt cx="749433" cy="667421"/>
          </a:xfrm>
        </p:grpSpPr>
        <p:sp>
          <p:nvSpPr>
            <p:cNvPr id="27" name="Rectangle 26">
              <a:extLst>
                <a:ext uri="{FF2B5EF4-FFF2-40B4-BE49-F238E27FC236}">
                  <a16:creationId xmlns:a16="http://schemas.microsoft.com/office/drawing/2014/main" id="{9380D254-145E-ACBD-2A22-9E2C07D90FFA}"/>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D9A7A7D-A2C5-ACA9-79AC-670D1B41E73E}"/>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541982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02C28E-9743-13F1-D38C-30B6842DF29E}"/>
              </a:ext>
            </a:extLst>
          </p:cNvPr>
          <p:cNvSpPr txBox="1"/>
          <p:nvPr/>
        </p:nvSpPr>
        <p:spPr>
          <a:xfrm>
            <a:off x="3624491" y="461457"/>
            <a:ext cx="4943016" cy="523220"/>
          </a:xfrm>
          <a:prstGeom prst="rect">
            <a:avLst/>
          </a:prstGeom>
          <a:noFill/>
        </p:spPr>
        <p:txBody>
          <a:bodyPr wrap="square">
            <a:spAutoFit/>
          </a:bodyPr>
          <a:lstStyle/>
          <a:p>
            <a:pPr algn="ctr"/>
            <a:r>
              <a:rPr lang="en-US" sz="2800" b="1" i="0" dirty="0">
                <a:solidFill>
                  <a:schemeClr val="tx1">
                    <a:lumMod val="95000"/>
                    <a:lumOff val="5000"/>
                  </a:schemeClr>
                </a:solidFill>
                <a:effectLst/>
                <a:latin typeface="Copperplate Gothic Bold" panose="020E0705020206020404" pitchFamily="34" charset="0"/>
              </a:rPr>
              <a:t>DATA SUMMARY</a:t>
            </a:r>
            <a:endParaRPr lang="en-US" sz="2800" b="1" dirty="0">
              <a:solidFill>
                <a:schemeClr val="tx1">
                  <a:lumMod val="95000"/>
                  <a:lumOff val="5000"/>
                </a:schemeClr>
              </a:solidFill>
              <a:latin typeface="Copperplate Gothic Bold" panose="020E0705020206020404" pitchFamily="34" charset="0"/>
            </a:endParaRPr>
          </a:p>
        </p:txBody>
      </p:sp>
      <p:sp>
        <p:nvSpPr>
          <p:cNvPr id="2" name="Isosceles Triangle 1">
            <a:extLst>
              <a:ext uri="{FF2B5EF4-FFF2-40B4-BE49-F238E27FC236}">
                <a16:creationId xmlns:a16="http://schemas.microsoft.com/office/drawing/2014/main" id="{874932BC-63C4-75C4-C0A3-6823738132A9}"/>
              </a:ext>
            </a:extLst>
          </p:cNvPr>
          <p:cNvSpPr/>
          <p:nvPr/>
        </p:nvSpPr>
        <p:spPr>
          <a:xfrm>
            <a:off x="1309767" y="1992987"/>
            <a:ext cx="1366341" cy="12965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t>10</a:t>
            </a:r>
          </a:p>
        </p:txBody>
      </p:sp>
      <p:sp>
        <p:nvSpPr>
          <p:cNvPr id="4" name="TextBox 3">
            <a:extLst>
              <a:ext uri="{FF2B5EF4-FFF2-40B4-BE49-F238E27FC236}">
                <a16:creationId xmlns:a16="http://schemas.microsoft.com/office/drawing/2014/main" id="{36D2E7FD-289A-91A5-B62B-9A82938DD315}"/>
              </a:ext>
            </a:extLst>
          </p:cNvPr>
          <p:cNvSpPr txBox="1"/>
          <p:nvPr/>
        </p:nvSpPr>
        <p:spPr>
          <a:xfrm>
            <a:off x="693682" y="1593478"/>
            <a:ext cx="3040118" cy="338554"/>
          </a:xfrm>
          <a:prstGeom prst="rect">
            <a:avLst/>
          </a:prstGeom>
          <a:noFill/>
        </p:spPr>
        <p:txBody>
          <a:bodyPr wrap="square">
            <a:spAutoFit/>
          </a:bodyPr>
          <a:lstStyle/>
          <a:p>
            <a:pPr algn="ctr"/>
            <a:r>
              <a:rPr lang="en-US" sz="1600" dirty="0">
                <a:solidFill>
                  <a:schemeClr val="tx1">
                    <a:lumMod val="95000"/>
                    <a:lumOff val="5000"/>
                  </a:schemeClr>
                </a:solidFill>
                <a:latin typeface="Copperplate Gothic Bold" panose="020E0705020206020404" pitchFamily="34" charset="0"/>
              </a:rPr>
              <a:t>Total Number Countries</a:t>
            </a:r>
          </a:p>
        </p:txBody>
      </p:sp>
      <p:sp>
        <p:nvSpPr>
          <p:cNvPr id="5" name="Isosceles Triangle 4">
            <a:extLst>
              <a:ext uri="{FF2B5EF4-FFF2-40B4-BE49-F238E27FC236}">
                <a16:creationId xmlns:a16="http://schemas.microsoft.com/office/drawing/2014/main" id="{5CE03576-7F9D-1F95-B281-57B3D2325966}"/>
              </a:ext>
            </a:extLst>
          </p:cNvPr>
          <p:cNvSpPr/>
          <p:nvPr/>
        </p:nvSpPr>
        <p:spPr>
          <a:xfrm>
            <a:off x="5412829" y="1975009"/>
            <a:ext cx="1366341" cy="12965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t>10</a:t>
            </a:r>
          </a:p>
        </p:txBody>
      </p:sp>
      <p:sp>
        <p:nvSpPr>
          <p:cNvPr id="6" name="TextBox 5">
            <a:extLst>
              <a:ext uri="{FF2B5EF4-FFF2-40B4-BE49-F238E27FC236}">
                <a16:creationId xmlns:a16="http://schemas.microsoft.com/office/drawing/2014/main" id="{D2CEFD11-1B2C-2A25-1024-CF162F3F78BE}"/>
              </a:ext>
            </a:extLst>
          </p:cNvPr>
          <p:cNvSpPr txBox="1"/>
          <p:nvPr/>
        </p:nvSpPr>
        <p:spPr>
          <a:xfrm>
            <a:off x="4355971" y="1593478"/>
            <a:ext cx="2853560" cy="338554"/>
          </a:xfrm>
          <a:prstGeom prst="rect">
            <a:avLst/>
          </a:prstGeom>
          <a:noFill/>
        </p:spPr>
        <p:txBody>
          <a:bodyPr wrap="square">
            <a:spAutoFit/>
          </a:bodyPr>
          <a:lstStyle/>
          <a:p>
            <a:pPr algn="ctr"/>
            <a:r>
              <a:rPr lang="en-US" sz="1600" dirty="0">
                <a:solidFill>
                  <a:schemeClr val="tx1">
                    <a:lumMod val="95000"/>
                    <a:lumOff val="5000"/>
                  </a:schemeClr>
                </a:solidFill>
                <a:latin typeface="Copperplate Gothic Bold" panose="020E0705020206020404" pitchFamily="34" charset="0"/>
              </a:rPr>
              <a:t>Crop Types</a:t>
            </a:r>
          </a:p>
        </p:txBody>
      </p:sp>
      <p:sp>
        <p:nvSpPr>
          <p:cNvPr id="8" name="Isosceles Triangle 7">
            <a:extLst>
              <a:ext uri="{FF2B5EF4-FFF2-40B4-BE49-F238E27FC236}">
                <a16:creationId xmlns:a16="http://schemas.microsoft.com/office/drawing/2014/main" id="{395014C7-3DA8-4473-A8C4-DF0EFB402086}"/>
              </a:ext>
            </a:extLst>
          </p:cNvPr>
          <p:cNvSpPr/>
          <p:nvPr/>
        </p:nvSpPr>
        <p:spPr>
          <a:xfrm>
            <a:off x="8866974" y="2050462"/>
            <a:ext cx="1366342" cy="129653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t>5</a:t>
            </a:r>
          </a:p>
        </p:txBody>
      </p:sp>
      <p:sp>
        <p:nvSpPr>
          <p:cNvPr id="9" name="TextBox 8">
            <a:extLst>
              <a:ext uri="{FF2B5EF4-FFF2-40B4-BE49-F238E27FC236}">
                <a16:creationId xmlns:a16="http://schemas.microsoft.com/office/drawing/2014/main" id="{E26F4429-89CF-0271-5EC4-4045EF0139FA}"/>
              </a:ext>
            </a:extLst>
          </p:cNvPr>
          <p:cNvSpPr txBox="1"/>
          <p:nvPr/>
        </p:nvSpPr>
        <p:spPr>
          <a:xfrm>
            <a:off x="8018260" y="1654433"/>
            <a:ext cx="2853560" cy="338554"/>
          </a:xfrm>
          <a:prstGeom prst="rect">
            <a:avLst/>
          </a:prstGeom>
          <a:noFill/>
        </p:spPr>
        <p:txBody>
          <a:bodyPr wrap="square">
            <a:spAutoFit/>
          </a:bodyPr>
          <a:lstStyle/>
          <a:p>
            <a:pPr algn="ctr"/>
            <a:r>
              <a:rPr lang="en-US" sz="1600" dirty="0">
                <a:solidFill>
                  <a:schemeClr val="tx1">
                    <a:lumMod val="95000"/>
                    <a:lumOff val="5000"/>
                  </a:schemeClr>
                </a:solidFill>
                <a:latin typeface="Copperplate Gothic Bold" panose="020E0705020206020404" pitchFamily="34" charset="0"/>
              </a:rPr>
              <a:t>Adaptation Strategies</a:t>
            </a:r>
          </a:p>
        </p:txBody>
      </p:sp>
      <p:sp>
        <p:nvSpPr>
          <p:cNvPr id="10" name="TextBox 9">
            <a:extLst>
              <a:ext uri="{FF2B5EF4-FFF2-40B4-BE49-F238E27FC236}">
                <a16:creationId xmlns:a16="http://schemas.microsoft.com/office/drawing/2014/main" id="{B7401DD1-DC7D-AEA7-2475-253477F1038C}"/>
              </a:ext>
            </a:extLst>
          </p:cNvPr>
          <p:cNvSpPr txBox="1"/>
          <p:nvPr/>
        </p:nvSpPr>
        <p:spPr>
          <a:xfrm>
            <a:off x="1309767" y="3314522"/>
            <a:ext cx="2144111" cy="3170099"/>
          </a:xfrm>
          <a:prstGeom prst="rect">
            <a:avLst/>
          </a:prstGeom>
          <a:noFill/>
        </p:spPr>
        <p:txBody>
          <a:bodyPr wrap="square">
            <a:spAutoFit/>
          </a:bodyPr>
          <a:lstStyle/>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Nigeria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China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USA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India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Australia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Argentina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Canada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France</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Russia</a:t>
            </a:r>
          </a:p>
          <a:p>
            <a:pPr marL="285750" indent="-285750">
              <a:buFont typeface="Wingdings" panose="05000000000000000000" pitchFamily="2" charset="2"/>
              <a:buChar char="ü"/>
            </a:pPr>
            <a:r>
              <a:rPr lang="en-US" sz="2000" b="1" dirty="0">
                <a:solidFill>
                  <a:schemeClr val="tx1">
                    <a:lumMod val="95000"/>
                    <a:lumOff val="5000"/>
                  </a:schemeClr>
                </a:solidFill>
                <a:latin typeface="Agency FB" panose="020B0503020202020204" pitchFamily="34" charset="0"/>
              </a:rPr>
              <a:t>Brazil</a:t>
            </a:r>
          </a:p>
        </p:txBody>
      </p:sp>
      <p:sp>
        <p:nvSpPr>
          <p:cNvPr id="11" name="TextBox 10">
            <a:extLst>
              <a:ext uri="{FF2B5EF4-FFF2-40B4-BE49-F238E27FC236}">
                <a16:creationId xmlns:a16="http://schemas.microsoft.com/office/drawing/2014/main" id="{1CEA7590-B188-958D-6538-E2F3AA9AE1DB}"/>
              </a:ext>
            </a:extLst>
          </p:cNvPr>
          <p:cNvSpPr txBox="1"/>
          <p:nvPr/>
        </p:nvSpPr>
        <p:spPr>
          <a:xfrm>
            <a:off x="5528811" y="3271545"/>
            <a:ext cx="1730174" cy="3170099"/>
          </a:xfrm>
          <a:prstGeom prst="rect">
            <a:avLst/>
          </a:prstGeom>
          <a:noFill/>
        </p:spPr>
        <p:txBody>
          <a:bodyPr wrap="square">
            <a:spAutoFit/>
          </a:bodyPr>
          <a:lstStyle/>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Barley</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Coffee</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Corn</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Cotton </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Fruit</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Rice</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Soyabeans</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Sugarcane</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Vegetable</a:t>
            </a:r>
          </a:p>
          <a:p>
            <a:pPr marL="285750" indent="-285750">
              <a:buFont typeface="Wingdings" panose="05000000000000000000" pitchFamily="2" charset="2"/>
              <a:buChar char="§"/>
            </a:pPr>
            <a:r>
              <a:rPr lang="en-US" sz="2000" b="1" dirty="0">
                <a:solidFill>
                  <a:schemeClr val="tx1">
                    <a:lumMod val="95000"/>
                    <a:lumOff val="5000"/>
                  </a:schemeClr>
                </a:solidFill>
                <a:latin typeface="Agency FB" panose="020B0503020202020204" pitchFamily="34" charset="0"/>
              </a:rPr>
              <a:t>Wheat</a:t>
            </a:r>
          </a:p>
        </p:txBody>
      </p:sp>
      <p:sp>
        <p:nvSpPr>
          <p:cNvPr id="12" name="TextBox 11">
            <a:extLst>
              <a:ext uri="{FF2B5EF4-FFF2-40B4-BE49-F238E27FC236}">
                <a16:creationId xmlns:a16="http://schemas.microsoft.com/office/drawing/2014/main" id="{5C6F0084-CCC8-D433-3290-0D0986BC9CF8}"/>
              </a:ext>
            </a:extLst>
          </p:cNvPr>
          <p:cNvSpPr txBox="1"/>
          <p:nvPr/>
        </p:nvSpPr>
        <p:spPr>
          <a:xfrm>
            <a:off x="8591544" y="3511004"/>
            <a:ext cx="2853560" cy="2338141"/>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000" b="1" dirty="0">
                <a:solidFill>
                  <a:schemeClr val="tx1">
                    <a:lumMod val="95000"/>
                    <a:lumOff val="5000"/>
                  </a:schemeClr>
                </a:solidFill>
                <a:latin typeface="Agency FB" panose="020B0503020202020204" pitchFamily="34" charset="0"/>
              </a:rPr>
              <a:t>Water Management</a:t>
            </a:r>
          </a:p>
          <a:p>
            <a:pPr marL="285750" indent="-285750">
              <a:lnSpc>
                <a:spcPct val="150000"/>
              </a:lnSpc>
              <a:buFont typeface="Wingdings" panose="05000000000000000000" pitchFamily="2" charset="2"/>
              <a:buChar char="v"/>
            </a:pPr>
            <a:r>
              <a:rPr lang="en-US" sz="2000" b="1" dirty="0">
                <a:solidFill>
                  <a:schemeClr val="tx1">
                    <a:lumMod val="95000"/>
                    <a:lumOff val="5000"/>
                  </a:schemeClr>
                </a:solidFill>
                <a:latin typeface="Agency FB" panose="020B0503020202020204" pitchFamily="34" charset="0"/>
              </a:rPr>
              <a:t>Drought Resistance </a:t>
            </a:r>
          </a:p>
          <a:p>
            <a:pPr marL="285750" indent="-285750">
              <a:lnSpc>
                <a:spcPct val="150000"/>
              </a:lnSpc>
              <a:buFont typeface="Wingdings" panose="05000000000000000000" pitchFamily="2" charset="2"/>
              <a:buChar char="v"/>
            </a:pPr>
            <a:r>
              <a:rPr lang="en-US" sz="2000" b="1" dirty="0">
                <a:solidFill>
                  <a:schemeClr val="tx1">
                    <a:lumMod val="95000"/>
                    <a:lumOff val="5000"/>
                  </a:schemeClr>
                </a:solidFill>
                <a:latin typeface="Agency FB" panose="020B0503020202020204" pitchFamily="34" charset="0"/>
              </a:rPr>
              <a:t>Crop Rotation</a:t>
            </a:r>
          </a:p>
          <a:p>
            <a:pPr marL="285750" indent="-285750">
              <a:lnSpc>
                <a:spcPct val="150000"/>
              </a:lnSpc>
              <a:buFont typeface="Wingdings" panose="05000000000000000000" pitchFamily="2" charset="2"/>
              <a:buChar char="v"/>
            </a:pPr>
            <a:r>
              <a:rPr lang="en-US" sz="2000" b="1" dirty="0">
                <a:solidFill>
                  <a:schemeClr val="tx1">
                    <a:lumMod val="95000"/>
                    <a:lumOff val="5000"/>
                  </a:schemeClr>
                </a:solidFill>
                <a:latin typeface="Agency FB" panose="020B0503020202020204" pitchFamily="34" charset="0"/>
              </a:rPr>
              <a:t>Organic Farming </a:t>
            </a:r>
          </a:p>
          <a:p>
            <a:pPr marL="285750" indent="-285750">
              <a:lnSpc>
                <a:spcPct val="150000"/>
              </a:lnSpc>
              <a:buFont typeface="Wingdings" panose="05000000000000000000" pitchFamily="2" charset="2"/>
              <a:buChar char="v"/>
            </a:pPr>
            <a:r>
              <a:rPr lang="en-US" sz="2000" b="1" dirty="0">
                <a:solidFill>
                  <a:schemeClr val="tx1">
                    <a:lumMod val="95000"/>
                    <a:lumOff val="5000"/>
                  </a:schemeClr>
                </a:solidFill>
                <a:latin typeface="Agency FB" panose="020B0503020202020204" pitchFamily="34" charset="0"/>
              </a:rPr>
              <a:t>No Adaptation</a:t>
            </a:r>
          </a:p>
        </p:txBody>
      </p:sp>
    </p:spTree>
    <p:extLst>
      <p:ext uri="{BB962C8B-B14F-4D97-AF65-F5344CB8AC3E}">
        <p14:creationId xmlns:p14="http://schemas.microsoft.com/office/powerpoint/2010/main" val="15950727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277E81A-0D3E-BB12-7873-C2D070A6ADFD}"/>
              </a:ext>
            </a:extLst>
          </p:cNvPr>
          <p:cNvSpPr txBox="1"/>
          <p:nvPr/>
        </p:nvSpPr>
        <p:spPr>
          <a:xfrm>
            <a:off x="3395133" y="93329"/>
            <a:ext cx="5401734" cy="523220"/>
          </a:xfrm>
          <a:prstGeom prst="rect">
            <a:avLst/>
          </a:prstGeom>
          <a:noFill/>
        </p:spPr>
        <p:txBody>
          <a:bodyPr wrap="square">
            <a:spAutoFit/>
          </a:bodyPr>
          <a:lstStyle/>
          <a:p>
            <a:pPr algn="ctr"/>
            <a:r>
              <a:rPr lang="en-US" sz="2800" b="1" i="0" dirty="0">
                <a:effectLst/>
                <a:latin typeface="Copperplate Gothic Bold" panose="020E0705020206020404" pitchFamily="34" charset="0"/>
              </a:rPr>
              <a:t>KEY FINDINGS</a:t>
            </a:r>
            <a:endParaRPr lang="en-US" sz="2800" b="1" dirty="0">
              <a:latin typeface="Copperplate Gothic Bold" panose="020E0705020206020404" pitchFamily="34" charset="0"/>
            </a:endParaRPr>
          </a:p>
        </p:txBody>
      </p:sp>
      <p:sp>
        <p:nvSpPr>
          <p:cNvPr id="7" name="Rectangle 1">
            <a:extLst>
              <a:ext uri="{FF2B5EF4-FFF2-40B4-BE49-F238E27FC236}">
                <a16:creationId xmlns:a16="http://schemas.microsoft.com/office/drawing/2014/main" id="{A061BF17-CBC2-59F6-5DB1-AE856E22C136}"/>
              </a:ext>
            </a:extLst>
          </p:cNvPr>
          <p:cNvSpPr>
            <a:spLocks noChangeArrowheads="1"/>
          </p:cNvSpPr>
          <p:nvPr/>
        </p:nvSpPr>
        <p:spPr bwMode="auto">
          <a:xfrm>
            <a:off x="1536700" y="5593209"/>
            <a:ext cx="990831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spcBef>
                <a:spcPct val="0"/>
              </a:spcBef>
              <a:spcAft>
                <a:spcPct val="0"/>
              </a:spcAft>
              <a:buClrTx/>
              <a:buSzTx/>
              <a:buFontTx/>
              <a:buNone/>
              <a:tabLst/>
            </a:pPr>
            <a:r>
              <a:rPr kumimoji="0" lang="en-US" altLang="en-US" sz="1600" b="1"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This </a:t>
            </a:r>
            <a:r>
              <a:rPr lang="en-US" sz="1600" b="1" dirty="0">
                <a:latin typeface="Times New Roman" panose="02020603050405020304" pitchFamily="18" charset="0"/>
                <a:cs typeface="Times New Roman" panose="02020603050405020304" pitchFamily="18" charset="0"/>
              </a:rPr>
              <a:t>Bar chart shows the ranking of countries by crop yield.</a:t>
            </a:r>
          </a:p>
          <a:p>
            <a:pPr marL="0" marR="0" lvl="0" indent="0" algn="just" defTabSz="914400" rtl="0" eaLnBrk="0" fontAlgn="base" latinLnBrk="0" hangingPunct="0">
              <a:spcBef>
                <a:spcPct val="0"/>
              </a:spcBef>
              <a:spcAft>
                <a:spcPct val="0"/>
              </a:spcAft>
              <a:buClrTx/>
              <a:buSzTx/>
              <a:buFontTx/>
              <a:buNone/>
              <a:tabLst/>
            </a:pPr>
            <a:endParaRPr lang="en-US" sz="16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None/>
              <a:tabLst/>
            </a:pPr>
            <a:r>
              <a:rPr lang="en-US" sz="1600" b="1" dirty="0">
                <a:latin typeface="Times New Roman" panose="02020603050405020304" pitchFamily="18" charset="0"/>
                <a:cs typeface="Times New Roman" panose="02020603050405020304" pitchFamily="18" charset="0"/>
              </a:rPr>
              <a:t>From the result, Nigeria leads, followed by China, USA, India, and others.</a:t>
            </a:r>
          </a:p>
          <a:p>
            <a:pPr marL="0" marR="0" lvl="0" indent="0" algn="just" defTabSz="914400" rtl="0" eaLnBrk="0" fontAlgn="base" latinLnBrk="0" hangingPunct="0">
              <a:spcBef>
                <a:spcPct val="0"/>
              </a:spcBef>
              <a:spcAft>
                <a:spcPct val="0"/>
              </a:spcAft>
              <a:buClrTx/>
              <a:buSzTx/>
              <a:buFontTx/>
              <a:buNone/>
              <a:tabLst/>
            </a:pPr>
            <a:endParaRPr kumimoji="0" lang="en-US" altLang="en-US" sz="1600" b="1"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E6C3E4B7-9BB4-D282-74B3-B519FCEAA98A}"/>
              </a:ext>
            </a:extLst>
          </p:cNvPr>
          <p:cNvGrpSpPr/>
          <p:nvPr/>
        </p:nvGrpSpPr>
        <p:grpSpPr>
          <a:xfrm>
            <a:off x="11296539" y="106583"/>
            <a:ext cx="749433" cy="667421"/>
            <a:chOff x="11139222" y="235887"/>
            <a:chExt cx="749433" cy="667421"/>
          </a:xfrm>
        </p:grpSpPr>
        <p:sp>
          <p:nvSpPr>
            <p:cNvPr id="9" name="Rectangle 8">
              <a:extLst>
                <a:ext uri="{FF2B5EF4-FFF2-40B4-BE49-F238E27FC236}">
                  <a16:creationId xmlns:a16="http://schemas.microsoft.com/office/drawing/2014/main" id="{8011301F-650A-02FC-1CE8-E40B7B88B8D3}"/>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0A0AE4F-A0B7-F152-CDEC-934742DA5F49}"/>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a:extLst>
              <a:ext uri="{FF2B5EF4-FFF2-40B4-BE49-F238E27FC236}">
                <a16:creationId xmlns:a16="http://schemas.microsoft.com/office/drawing/2014/main" id="{F6A127A2-F00A-08C5-D3D1-0915502BF13F}"/>
              </a:ext>
            </a:extLst>
          </p:cNvPr>
          <p:cNvPicPr>
            <a:picLocks noChangeAspect="1"/>
          </p:cNvPicPr>
          <p:nvPr/>
        </p:nvPicPr>
        <p:blipFill>
          <a:blip r:embed="rId2"/>
          <a:stretch>
            <a:fillRect/>
          </a:stretch>
        </p:blipFill>
        <p:spPr>
          <a:xfrm>
            <a:off x="997700" y="881031"/>
            <a:ext cx="9908313" cy="5286414"/>
          </a:xfrm>
          <a:prstGeom prst="rect">
            <a:avLst/>
          </a:prstGeom>
        </p:spPr>
      </p:pic>
      <p:grpSp>
        <p:nvGrpSpPr>
          <p:cNvPr id="15" name="Group 14">
            <a:extLst>
              <a:ext uri="{FF2B5EF4-FFF2-40B4-BE49-F238E27FC236}">
                <a16:creationId xmlns:a16="http://schemas.microsoft.com/office/drawing/2014/main" id="{F1BF8CCE-911B-088E-4A79-85088FF89328}"/>
              </a:ext>
            </a:extLst>
          </p:cNvPr>
          <p:cNvGrpSpPr/>
          <p:nvPr/>
        </p:nvGrpSpPr>
        <p:grpSpPr>
          <a:xfrm>
            <a:off x="248267" y="213610"/>
            <a:ext cx="749433" cy="667421"/>
            <a:chOff x="11139222" y="235887"/>
            <a:chExt cx="749433" cy="667421"/>
          </a:xfrm>
        </p:grpSpPr>
        <p:sp>
          <p:nvSpPr>
            <p:cNvPr id="16" name="Rectangle 15">
              <a:extLst>
                <a:ext uri="{FF2B5EF4-FFF2-40B4-BE49-F238E27FC236}">
                  <a16:creationId xmlns:a16="http://schemas.microsoft.com/office/drawing/2014/main" id="{D123AC95-F1AF-C00F-1D6C-27D816C179DD}"/>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C1EA3A5-A354-AFE9-86F5-150C274DA58C}"/>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F8224FDF-FB14-4E47-9A9D-21F39087DC07}"/>
              </a:ext>
            </a:extLst>
          </p:cNvPr>
          <p:cNvSpPr/>
          <p:nvPr/>
        </p:nvSpPr>
        <p:spPr>
          <a:xfrm>
            <a:off x="3395133" y="881031"/>
            <a:ext cx="5401734" cy="4270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Black" panose="020B0A04020102020204" pitchFamily="34" charset="0"/>
              </a:rPr>
              <a:t>Crop yield ( In Metric Tons) by Country</a:t>
            </a:r>
          </a:p>
        </p:txBody>
      </p:sp>
    </p:spTree>
    <p:extLst>
      <p:ext uri="{BB962C8B-B14F-4D97-AF65-F5344CB8AC3E}">
        <p14:creationId xmlns:p14="http://schemas.microsoft.com/office/powerpoint/2010/main" val="42922857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1AD8E-5829-DA7D-AC12-5B0ABDF4012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237E4AF-79E4-3C5E-62DE-EE16D6D80469}"/>
              </a:ext>
            </a:extLst>
          </p:cNvPr>
          <p:cNvSpPr txBox="1"/>
          <p:nvPr/>
        </p:nvSpPr>
        <p:spPr>
          <a:xfrm>
            <a:off x="1825487" y="233952"/>
            <a:ext cx="5401734" cy="523220"/>
          </a:xfrm>
          <a:prstGeom prst="rect">
            <a:avLst/>
          </a:prstGeom>
          <a:noFill/>
        </p:spPr>
        <p:txBody>
          <a:bodyPr wrap="square">
            <a:spAutoFit/>
          </a:bodyPr>
          <a:lstStyle/>
          <a:p>
            <a:pPr algn="r"/>
            <a:r>
              <a:rPr lang="en-US" sz="2800" b="1" i="0" dirty="0">
                <a:effectLst/>
                <a:latin typeface="Copperplate Gothic Bold" panose="020E0705020206020404" pitchFamily="34" charset="0"/>
              </a:rPr>
              <a:t>KEY FINDINGS</a:t>
            </a:r>
            <a:endParaRPr lang="en-US" sz="2800" b="1" dirty="0">
              <a:latin typeface="Copperplate Gothic Bold" panose="020E0705020206020404" pitchFamily="34" charset="0"/>
            </a:endParaRPr>
          </a:p>
        </p:txBody>
      </p:sp>
      <p:grpSp>
        <p:nvGrpSpPr>
          <p:cNvPr id="8" name="Group 7">
            <a:extLst>
              <a:ext uri="{FF2B5EF4-FFF2-40B4-BE49-F238E27FC236}">
                <a16:creationId xmlns:a16="http://schemas.microsoft.com/office/drawing/2014/main" id="{5FCCF898-627A-68DA-64E6-67A1A0AC831F}"/>
              </a:ext>
            </a:extLst>
          </p:cNvPr>
          <p:cNvGrpSpPr/>
          <p:nvPr/>
        </p:nvGrpSpPr>
        <p:grpSpPr>
          <a:xfrm>
            <a:off x="11296539" y="106583"/>
            <a:ext cx="749433" cy="667421"/>
            <a:chOff x="11139222" y="235887"/>
            <a:chExt cx="749433" cy="667421"/>
          </a:xfrm>
        </p:grpSpPr>
        <p:sp>
          <p:nvSpPr>
            <p:cNvPr id="9" name="Rectangle 8">
              <a:extLst>
                <a:ext uri="{FF2B5EF4-FFF2-40B4-BE49-F238E27FC236}">
                  <a16:creationId xmlns:a16="http://schemas.microsoft.com/office/drawing/2014/main" id="{43EF0FCF-B191-E023-C6BC-7E5D4D1C2A5C}"/>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E2AC82-FAF5-3439-951D-1B5345D24BF7}"/>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a:extLst>
              <a:ext uri="{FF2B5EF4-FFF2-40B4-BE49-F238E27FC236}">
                <a16:creationId xmlns:a16="http://schemas.microsoft.com/office/drawing/2014/main" id="{4ED4FE57-179A-3D49-89B2-7F8CB1E2CD6C}"/>
              </a:ext>
            </a:extLst>
          </p:cNvPr>
          <p:cNvPicPr>
            <a:picLocks noChangeAspect="1"/>
          </p:cNvPicPr>
          <p:nvPr/>
        </p:nvPicPr>
        <p:blipFill>
          <a:blip r:embed="rId2"/>
          <a:stretch>
            <a:fillRect/>
          </a:stretch>
        </p:blipFill>
        <p:spPr>
          <a:xfrm>
            <a:off x="997700" y="817736"/>
            <a:ext cx="10418278" cy="5806312"/>
          </a:xfrm>
          <a:prstGeom prst="rect">
            <a:avLst/>
          </a:prstGeom>
        </p:spPr>
      </p:pic>
      <p:grpSp>
        <p:nvGrpSpPr>
          <p:cNvPr id="14" name="Group 13">
            <a:extLst>
              <a:ext uri="{FF2B5EF4-FFF2-40B4-BE49-F238E27FC236}">
                <a16:creationId xmlns:a16="http://schemas.microsoft.com/office/drawing/2014/main" id="{301F7A13-D281-9532-0BFA-1E77D26B9DC3}"/>
              </a:ext>
            </a:extLst>
          </p:cNvPr>
          <p:cNvGrpSpPr/>
          <p:nvPr/>
        </p:nvGrpSpPr>
        <p:grpSpPr>
          <a:xfrm>
            <a:off x="248267" y="191937"/>
            <a:ext cx="749433" cy="667421"/>
            <a:chOff x="11139222" y="235887"/>
            <a:chExt cx="749433" cy="667421"/>
          </a:xfrm>
        </p:grpSpPr>
        <p:sp>
          <p:nvSpPr>
            <p:cNvPr id="15" name="Rectangle 14">
              <a:extLst>
                <a:ext uri="{FF2B5EF4-FFF2-40B4-BE49-F238E27FC236}">
                  <a16:creationId xmlns:a16="http://schemas.microsoft.com/office/drawing/2014/main" id="{539B32B3-F1AA-B041-DA44-57A1728C53C8}"/>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68FDF2-5E5F-9533-C286-F07F74C4438F}"/>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FF7E0DEB-1DB9-DA1D-5A2F-A48DDF2CEF77}"/>
              </a:ext>
            </a:extLst>
          </p:cNvPr>
          <p:cNvSpPr/>
          <p:nvPr/>
        </p:nvSpPr>
        <p:spPr>
          <a:xfrm>
            <a:off x="2870200" y="867175"/>
            <a:ext cx="5918200" cy="3852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Black" panose="020B0A04020102020204" pitchFamily="34" charset="0"/>
              </a:rPr>
              <a:t>Crop yield (in Metric Tons) over time</a:t>
            </a:r>
          </a:p>
        </p:txBody>
      </p:sp>
    </p:spTree>
    <p:extLst>
      <p:ext uri="{BB962C8B-B14F-4D97-AF65-F5344CB8AC3E}">
        <p14:creationId xmlns:p14="http://schemas.microsoft.com/office/powerpoint/2010/main" val="11425893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730F4-376C-320B-AD77-8B67BF3806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DD7334A-1B98-82B0-3FE4-48FDF2600DAE}"/>
              </a:ext>
            </a:extLst>
          </p:cNvPr>
          <p:cNvSpPr txBox="1"/>
          <p:nvPr/>
        </p:nvSpPr>
        <p:spPr>
          <a:xfrm>
            <a:off x="3140405" y="338368"/>
            <a:ext cx="5401734" cy="523220"/>
          </a:xfrm>
          <a:prstGeom prst="rect">
            <a:avLst/>
          </a:prstGeom>
          <a:noFill/>
        </p:spPr>
        <p:txBody>
          <a:bodyPr wrap="square">
            <a:spAutoFit/>
          </a:bodyPr>
          <a:lstStyle/>
          <a:p>
            <a:pPr algn="ctr"/>
            <a:r>
              <a:rPr lang="en-US" sz="2800" b="1" i="0" dirty="0">
                <a:effectLst/>
                <a:latin typeface="Copperplate Gothic Bold" panose="020E0705020206020404" pitchFamily="34" charset="0"/>
              </a:rPr>
              <a:t>KEY FINDINGS</a:t>
            </a:r>
            <a:endParaRPr lang="en-US" sz="2800" b="1" dirty="0">
              <a:latin typeface="Copperplate Gothic Bold" panose="020E0705020206020404" pitchFamily="34" charset="0"/>
            </a:endParaRPr>
          </a:p>
        </p:txBody>
      </p:sp>
      <p:grpSp>
        <p:nvGrpSpPr>
          <p:cNvPr id="8" name="Group 7">
            <a:extLst>
              <a:ext uri="{FF2B5EF4-FFF2-40B4-BE49-F238E27FC236}">
                <a16:creationId xmlns:a16="http://schemas.microsoft.com/office/drawing/2014/main" id="{682E8F1A-C534-5EBD-78F3-895D87A6C656}"/>
              </a:ext>
            </a:extLst>
          </p:cNvPr>
          <p:cNvGrpSpPr/>
          <p:nvPr/>
        </p:nvGrpSpPr>
        <p:grpSpPr>
          <a:xfrm>
            <a:off x="11296539" y="106583"/>
            <a:ext cx="749433" cy="667421"/>
            <a:chOff x="11139222" y="235887"/>
            <a:chExt cx="749433" cy="667421"/>
          </a:xfrm>
        </p:grpSpPr>
        <p:sp>
          <p:nvSpPr>
            <p:cNvPr id="9" name="Rectangle 8">
              <a:extLst>
                <a:ext uri="{FF2B5EF4-FFF2-40B4-BE49-F238E27FC236}">
                  <a16:creationId xmlns:a16="http://schemas.microsoft.com/office/drawing/2014/main" id="{1C783E50-8C50-F92E-7DA4-0CB9245D4ECF}"/>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30A22D-E4B9-37E9-B5B8-CDEE05502346}"/>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92A12A00-15F8-0EC6-FC51-1EA3FC973C55}"/>
              </a:ext>
            </a:extLst>
          </p:cNvPr>
          <p:cNvPicPr>
            <a:picLocks noChangeAspect="1"/>
          </p:cNvPicPr>
          <p:nvPr/>
        </p:nvPicPr>
        <p:blipFill>
          <a:blip r:embed="rId2"/>
          <a:stretch>
            <a:fillRect/>
          </a:stretch>
        </p:blipFill>
        <p:spPr>
          <a:xfrm>
            <a:off x="741605" y="881031"/>
            <a:ext cx="10910534" cy="5877641"/>
          </a:xfrm>
          <a:prstGeom prst="rect">
            <a:avLst/>
          </a:prstGeom>
        </p:spPr>
      </p:pic>
      <p:grpSp>
        <p:nvGrpSpPr>
          <p:cNvPr id="13" name="Group 12">
            <a:extLst>
              <a:ext uri="{FF2B5EF4-FFF2-40B4-BE49-F238E27FC236}">
                <a16:creationId xmlns:a16="http://schemas.microsoft.com/office/drawing/2014/main" id="{D639F09F-9287-0BF7-EE25-6CE57AA23C86}"/>
              </a:ext>
            </a:extLst>
          </p:cNvPr>
          <p:cNvGrpSpPr/>
          <p:nvPr/>
        </p:nvGrpSpPr>
        <p:grpSpPr>
          <a:xfrm>
            <a:off x="386005" y="213610"/>
            <a:ext cx="749433" cy="667421"/>
            <a:chOff x="11139222" y="235887"/>
            <a:chExt cx="749433" cy="667421"/>
          </a:xfrm>
        </p:grpSpPr>
        <p:sp>
          <p:nvSpPr>
            <p:cNvPr id="14" name="Rectangle 13">
              <a:extLst>
                <a:ext uri="{FF2B5EF4-FFF2-40B4-BE49-F238E27FC236}">
                  <a16:creationId xmlns:a16="http://schemas.microsoft.com/office/drawing/2014/main" id="{C156F513-92A0-5918-3FF5-069C89754167}"/>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59D30CA-A6CC-B94A-E9EB-E09A6FA78AED}"/>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387627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168AD-8AAE-6F32-B384-1386A20268E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50401B2-C5EB-C634-5521-0B5CA8B104EB}"/>
              </a:ext>
            </a:extLst>
          </p:cNvPr>
          <p:cNvSpPr txBox="1"/>
          <p:nvPr/>
        </p:nvSpPr>
        <p:spPr>
          <a:xfrm>
            <a:off x="3588476" y="259615"/>
            <a:ext cx="5401734" cy="523220"/>
          </a:xfrm>
          <a:prstGeom prst="rect">
            <a:avLst/>
          </a:prstGeom>
          <a:noFill/>
        </p:spPr>
        <p:txBody>
          <a:bodyPr wrap="square">
            <a:spAutoFit/>
          </a:bodyPr>
          <a:lstStyle/>
          <a:p>
            <a:pPr algn="ctr"/>
            <a:r>
              <a:rPr lang="en-US" sz="2800" b="1" i="0" dirty="0">
                <a:effectLst/>
                <a:latin typeface="Lora" pitchFamily="2" charset="0"/>
              </a:rPr>
              <a:t>KEY </a:t>
            </a:r>
            <a:r>
              <a:rPr lang="en-US" sz="2800" b="1" i="0" dirty="0">
                <a:effectLst/>
                <a:latin typeface="Copperplate Gothic Bold" panose="020E0705020206020404" pitchFamily="34" charset="0"/>
              </a:rPr>
              <a:t>FINDINGS </a:t>
            </a:r>
            <a:endParaRPr lang="en-US" sz="2800" b="1" dirty="0">
              <a:latin typeface="Copperplate Gothic Bold" panose="020E0705020206020404" pitchFamily="34" charset="0"/>
            </a:endParaRPr>
          </a:p>
        </p:txBody>
      </p:sp>
      <p:grpSp>
        <p:nvGrpSpPr>
          <p:cNvPr id="8" name="Group 7">
            <a:extLst>
              <a:ext uri="{FF2B5EF4-FFF2-40B4-BE49-F238E27FC236}">
                <a16:creationId xmlns:a16="http://schemas.microsoft.com/office/drawing/2014/main" id="{4F2B60F1-8CF5-2709-4895-447BA57226CB}"/>
              </a:ext>
            </a:extLst>
          </p:cNvPr>
          <p:cNvGrpSpPr/>
          <p:nvPr/>
        </p:nvGrpSpPr>
        <p:grpSpPr>
          <a:xfrm>
            <a:off x="11296539" y="106583"/>
            <a:ext cx="749433" cy="667421"/>
            <a:chOff x="11139222" y="235887"/>
            <a:chExt cx="749433" cy="667421"/>
          </a:xfrm>
        </p:grpSpPr>
        <p:sp>
          <p:nvSpPr>
            <p:cNvPr id="9" name="Rectangle 8">
              <a:extLst>
                <a:ext uri="{FF2B5EF4-FFF2-40B4-BE49-F238E27FC236}">
                  <a16:creationId xmlns:a16="http://schemas.microsoft.com/office/drawing/2014/main" id="{683709CE-9A80-2B10-7237-7FBFCEA49D2D}"/>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4799D4-67BE-3EB7-E0FC-E6165675E6AA}"/>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a:extLst>
              <a:ext uri="{FF2B5EF4-FFF2-40B4-BE49-F238E27FC236}">
                <a16:creationId xmlns:a16="http://schemas.microsoft.com/office/drawing/2014/main" id="{828650EC-46C1-65D7-4AD6-350D0043945C}"/>
              </a:ext>
            </a:extLst>
          </p:cNvPr>
          <p:cNvPicPr>
            <a:picLocks noChangeAspect="1"/>
          </p:cNvPicPr>
          <p:nvPr/>
        </p:nvPicPr>
        <p:blipFill>
          <a:blip r:embed="rId2"/>
          <a:stretch>
            <a:fillRect/>
          </a:stretch>
        </p:blipFill>
        <p:spPr>
          <a:xfrm>
            <a:off x="550454" y="782835"/>
            <a:ext cx="11477777" cy="5540082"/>
          </a:xfrm>
          <a:prstGeom prst="rect">
            <a:avLst/>
          </a:prstGeom>
        </p:spPr>
      </p:pic>
      <p:grpSp>
        <p:nvGrpSpPr>
          <p:cNvPr id="18" name="Group 17">
            <a:extLst>
              <a:ext uri="{FF2B5EF4-FFF2-40B4-BE49-F238E27FC236}">
                <a16:creationId xmlns:a16="http://schemas.microsoft.com/office/drawing/2014/main" id="{A2BBADC6-7327-DA2C-DAD9-BCBF3EBACC29}"/>
              </a:ext>
            </a:extLst>
          </p:cNvPr>
          <p:cNvGrpSpPr/>
          <p:nvPr/>
        </p:nvGrpSpPr>
        <p:grpSpPr>
          <a:xfrm>
            <a:off x="532714" y="106583"/>
            <a:ext cx="749433" cy="667421"/>
            <a:chOff x="11139222" y="235887"/>
            <a:chExt cx="749433" cy="667421"/>
          </a:xfrm>
        </p:grpSpPr>
        <p:sp>
          <p:nvSpPr>
            <p:cNvPr id="19" name="Rectangle 18">
              <a:extLst>
                <a:ext uri="{FF2B5EF4-FFF2-40B4-BE49-F238E27FC236}">
                  <a16:creationId xmlns:a16="http://schemas.microsoft.com/office/drawing/2014/main" id="{6B6CB8FE-77D2-D5F4-17B0-48572EC30E33}"/>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EF4D5A3-EA0A-59C8-9481-7AF06732907B}"/>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021FC736-7F29-47C9-856D-41B9DFB19AA1}"/>
              </a:ext>
            </a:extLst>
          </p:cNvPr>
          <p:cNvSpPr txBox="1"/>
          <p:nvPr/>
        </p:nvSpPr>
        <p:spPr>
          <a:xfrm>
            <a:off x="1549400" y="936723"/>
            <a:ext cx="4229100" cy="369332"/>
          </a:xfrm>
          <a:prstGeom prst="rect">
            <a:avLst/>
          </a:prstGeom>
          <a:solidFill>
            <a:schemeClr val="bg1"/>
          </a:solidFill>
        </p:spPr>
        <p:txBody>
          <a:bodyPr wrap="square" rtlCol="0">
            <a:spAutoFit/>
          </a:bodyPr>
          <a:lstStyle/>
          <a:p>
            <a:r>
              <a:rPr lang="en-US" b="1" dirty="0"/>
              <a:t>Economic impact (in USD) by country</a:t>
            </a:r>
          </a:p>
        </p:txBody>
      </p:sp>
    </p:spTree>
    <p:extLst>
      <p:ext uri="{BB962C8B-B14F-4D97-AF65-F5344CB8AC3E}">
        <p14:creationId xmlns:p14="http://schemas.microsoft.com/office/powerpoint/2010/main" val="31930551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0CED1-04CA-3D0E-8478-488D6DEB64E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FE0822A-8B5D-AADA-5A1F-48068F2520B9}"/>
              </a:ext>
            </a:extLst>
          </p:cNvPr>
          <p:cNvSpPr txBox="1"/>
          <p:nvPr/>
        </p:nvSpPr>
        <p:spPr>
          <a:xfrm>
            <a:off x="3496096" y="170229"/>
            <a:ext cx="5401734" cy="523220"/>
          </a:xfrm>
          <a:prstGeom prst="rect">
            <a:avLst/>
          </a:prstGeom>
          <a:noFill/>
        </p:spPr>
        <p:txBody>
          <a:bodyPr wrap="square">
            <a:spAutoFit/>
          </a:bodyPr>
          <a:lstStyle/>
          <a:p>
            <a:pPr algn="ctr"/>
            <a:r>
              <a:rPr lang="en-US" sz="2800" b="1" i="0" dirty="0">
                <a:effectLst/>
                <a:latin typeface="Copperplate Gothic Bold" panose="020E0705020206020404" pitchFamily="34" charset="0"/>
              </a:rPr>
              <a:t>KEY FINDINGS</a:t>
            </a:r>
            <a:endParaRPr lang="en-US" sz="2800" b="1" dirty="0">
              <a:latin typeface="Copperplate Gothic Bold" panose="020E0705020206020404" pitchFamily="34" charset="0"/>
            </a:endParaRPr>
          </a:p>
        </p:txBody>
      </p:sp>
      <p:grpSp>
        <p:nvGrpSpPr>
          <p:cNvPr id="8" name="Group 7">
            <a:extLst>
              <a:ext uri="{FF2B5EF4-FFF2-40B4-BE49-F238E27FC236}">
                <a16:creationId xmlns:a16="http://schemas.microsoft.com/office/drawing/2014/main" id="{7D59FBA9-992D-2316-7F7F-E193690B2458}"/>
              </a:ext>
            </a:extLst>
          </p:cNvPr>
          <p:cNvGrpSpPr/>
          <p:nvPr/>
        </p:nvGrpSpPr>
        <p:grpSpPr>
          <a:xfrm>
            <a:off x="11296539" y="106583"/>
            <a:ext cx="749433" cy="667421"/>
            <a:chOff x="11139222" y="235887"/>
            <a:chExt cx="749433" cy="667421"/>
          </a:xfrm>
        </p:grpSpPr>
        <p:sp>
          <p:nvSpPr>
            <p:cNvPr id="9" name="Rectangle 8">
              <a:extLst>
                <a:ext uri="{FF2B5EF4-FFF2-40B4-BE49-F238E27FC236}">
                  <a16:creationId xmlns:a16="http://schemas.microsoft.com/office/drawing/2014/main" id="{523DB4FF-527D-6B50-8376-28726180A02A}"/>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1AA7BD-BC8D-D002-F1BA-F10414275918}"/>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a:extLst>
              <a:ext uri="{FF2B5EF4-FFF2-40B4-BE49-F238E27FC236}">
                <a16:creationId xmlns:a16="http://schemas.microsoft.com/office/drawing/2014/main" id="{1AC8D31D-A86B-FF2A-00D3-AAC2D99F5A9F}"/>
              </a:ext>
            </a:extLst>
          </p:cNvPr>
          <p:cNvPicPr>
            <a:picLocks noChangeAspect="1"/>
          </p:cNvPicPr>
          <p:nvPr/>
        </p:nvPicPr>
        <p:blipFill>
          <a:blip r:embed="rId2"/>
          <a:stretch>
            <a:fillRect/>
          </a:stretch>
        </p:blipFill>
        <p:spPr>
          <a:xfrm>
            <a:off x="1223427" y="873811"/>
            <a:ext cx="9947071" cy="5110377"/>
          </a:xfrm>
          <a:prstGeom prst="rect">
            <a:avLst/>
          </a:prstGeom>
        </p:spPr>
      </p:pic>
      <p:grpSp>
        <p:nvGrpSpPr>
          <p:cNvPr id="14" name="Group 13">
            <a:extLst>
              <a:ext uri="{FF2B5EF4-FFF2-40B4-BE49-F238E27FC236}">
                <a16:creationId xmlns:a16="http://schemas.microsoft.com/office/drawing/2014/main" id="{FAC11491-4BCE-4412-2A1E-99851523DA4E}"/>
              </a:ext>
            </a:extLst>
          </p:cNvPr>
          <p:cNvGrpSpPr/>
          <p:nvPr/>
        </p:nvGrpSpPr>
        <p:grpSpPr>
          <a:xfrm>
            <a:off x="144531" y="6091295"/>
            <a:ext cx="749433" cy="667421"/>
            <a:chOff x="11139222" y="235887"/>
            <a:chExt cx="749433" cy="667421"/>
          </a:xfrm>
        </p:grpSpPr>
        <p:sp>
          <p:nvSpPr>
            <p:cNvPr id="15" name="Rectangle 14">
              <a:extLst>
                <a:ext uri="{FF2B5EF4-FFF2-40B4-BE49-F238E27FC236}">
                  <a16:creationId xmlns:a16="http://schemas.microsoft.com/office/drawing/2014/main" id="{6FC8CF9F-4552-B642-10DE-F16DD94D4E2C}"/>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0535EB-E31E-C794-0BA9-A856A6B47DB4}"/>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52338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D2AD9-1C2B-29F8-A1CD-F2C44F5D30B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71F7955-048A-C7F2-5638-900B7229B83C}"/>
              </a:ext>
            </a:extLst>
          </p:cNvPr>
          <p:cNvSpPr txBox="1"/>
          <p:nvPr/>
        </p:nvSpPr>
        <p:spPr>
          <a:xfrm>
            <a:off x="3073950" y="283687"/>
            <a:ext cx="5401734" cy="523220"/>
          </a:xfrm>
          <a:prstGeom prst="rect">
            <a:avLst/>
          </a:prstGeom>
          <a:noFill/>
        </p:spPr>
        <p:txBody>
          <a:bodyPr wrap="square">
            <a:spAutoFit/>
          </a:bodyPr>
          <a:lstStyle/>
          <a:p>
            <a:pPr algn="ctr"/>
            <a:r>
              <a:rPr lang="en-US" sz="2800" b="1" i="0" dirty="0">
                <a:effectLst/>
                <a:latin typeface="Copperplate Gothic Bold" panose="020E0705020206020404" pitchFamily="34" charset="0"/>
              </a:rPr>
              <a:t>KEY FINDINGS</a:t>
            </a:r>
            <a:endParaRPr lang="en-US" sz="2800" b="1" dirty="0">
              <a:latin typeface="Copperplate Gothic Bold" panose="020E0705020206020404" pitchFamily="34" charset="0"/>
            </a:endParaRPr>
          </a:p>
        </p:txBody>
      </p:sp>
      <p:pic>
        <p:nvPicPr>
          <p:cNvPr id="15" name="Picture 14">
            <a:extLst>
              <a:ext uri="{FF2B5EF4-FFF2-40B4-BE49-F238E27FC236}">
                <a16:creationId xmlns:a16="http://schemas.microsoft.com/office/drawing/2014/main" id="{E1B73F46-960F-58A2-D00D-7D7593CD2CFC}"/>
              </a:ext>
            </a:extLst>
          </p:cNvPr>
          <p:cNvPicPr>
            <a:picLocks noChangeAspect="1"/>
          </p:cNvPicPr>
          <p:nvPr/>
        </p:nvPicPr>
        <p:blipFill>
          <a:blip r:embed="rId2"/>
          <a:stretch>
            <a:fillRect/>
          </a:stretch>
        </p:blipFill>
        <p:spPr>
          <a:xfrm>
            <a:off x="1255426" y="787676"/>
            <a:ext cx="10041113" cy="5572621"/>
          </a:xfrm>
          <a:prstGeom prst="rect">
            <a:avLst/>
          </a:prstGeom>
        </p:spPr>
      </p:pic>
      <p:grpSp>
        <p:nvGrpSpPr>
          <p:cNvPr id="16" name="Group 15">
            <a:extLst>
              <a:ext uri="{FF2B5EF4-FFF2-40B4-BE49-F238E27FC236}">
                <a16:creationId xmlns:a16="http://schemas.microsoft.com/office/drawing/2014/main" id="{1F2AC0C2-05FE-4494-FBDA-8EA0888875EC}"/>
              </a:ext>
            </a:extLst>
          </p:cNvPr>
          <p:cNvGrpSpPr/>
          <p:nvPr/>
        </p:nvGrpSpPr>
        <p:grpSpPr>
          <a:xfrm>
            <a:off x="266016" y="6076707"/>
            <a:ext cx="749433" cy="667421"/>
            <a:chOff x="11139222" y="235887"/>
            <a:chExt cx="749433" cy="667421"/>
          </a:xfrm>
        </p:grpSpPr>
        <p:sp>
          <p:nvSpPr>
            <p:cNvPr id="17" name="Rectangle 16">
              <a:extLst>
                <a:ext uri="{FF2B5EF4-FFF2-40B4-BE49-F238E27FC236}">
                  <a16:creationId xmlns:a16="http://schemas.microsoft.com/office/drawing/2014/main" id="{BC527F07-AE69-5D8D-95C1-4BECA1746AC8}"/>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CD73C38-0172-E71F-5CA3-1D4AD8122A4D}"/>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BD74BCF3-84B1-DF44-81E3-FDDFD4B45BB2}"/>
              </a:ext>
            </a:extLst>
          </p:cNvPr>
          <p:cNvGrpSpPr/>
          <p:nvPr/>
        </p:nvGrpSpPr>
        <p:grpSpPr>
          <a:xfrm>
            <a:off x="11296539" y="106583"/>
            <a:ext cx="749433" cy="667421"/>
            <a:chOff x="11139222" y="235887"/>
            <a:chExt cx="749433" cy="667421"/>
          </a:xfrm>
        </p:grpSpPr>
        <p:sp>
          <p:nvSpPr>
            <p:cNvPr id="9" name="Rectangle 8">
              <a:extLst>
                <a:ext uri="{FF2B5EF4-FFF2-40B4-BE49-F238E27FC236}">
                  <a16:creationId xmlns:a16="http://schemas.microsoft.com/office/drawing/2014/main" id="{E7BB019F-1D97-DA3F-3DC6-2D80B3A8C8AE}"/>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3C365D-435F-6224-1B85-69EA0B91B46A}"/>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08730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E229D-0721-3A8F-8293-8AF8C4CEE8B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70F402B-F707-2211-588F-51DD40169834}"/>
              </a:ext>
            </a:extLst>
          </p:cNvPr>
          <p:cNvSpPr txBox="1"/>
          <p:nvPr/>
        </p:nvSpPr>
        <p:spPr>
          <a:xfrm>
            <a:off x="3395133" y="106583"/>
            <a:ext cx="5401734" cy="523220"/>
          </a:xfrm>
          <a:prstGeom prst="rect">
            <a:avLst/>
          </a:prstGeom>
          <a:noFill/>
        </p:spPr>
        <p:txBody>
          <a:bodyPr wrap="square">
            <a:spAutoFit/>
          </a:bodyPr>
          <a:lstStyle/>
          <a:p>
            <a:pPr algn="ctr"/>
            <a:r>
              <a:rPr lang="en-US" sz="2800" b="1" i="0" dirty="0">
                <a:effectLst/>
                <a:latin typeface="Copperplate Gothic Bold" panose="020E0705020206020404" pitchFamily="34" charset="0"/>
              </a:rPr>
              <a:t>KEY FINDINGS</a:t>
            </a:r>
            <a:endParaRPr lang="en-US" sz="2800" b="1" dirty="0">
              <a:latin typeface="Copperplate Gothic Bold" panose="020E0705020206020404" pitchFamily="34" charset="0"/>
            </a:endParaRPr>
          </a:p>
        </p:txBody>
      </p:sp>
      <p:grpSp>
        <p:nvGrpSpPr>
          <p:cNvPr id="8" name="Group 7">
            <a:extLst>
              <a:ext uri="{FF2B5EF4-FFF2-40B4-BE49-F238E27FC236}">
                <a16:creationId xmlns:a16="http://schemas.microsoft.com/office/drawing/2014/main" id="{C9A24D9D-D999-4041-4A8B-EA8940FB496F}"/>
              </a:ext>
            </a:extLst>
          </p:cNvPr>
          <p:cNvGrpSpPr/>
          <p:nvPr/>
        </p:nvGrpSpPr>
        <p:grpSpPr>
          <a:xfrm>
            <a:off x="11296539" y="106583"/>
            <a:ext cx="749433" cy="667421"/>
            <a:chOff x="11139222" y="235887"/>
            <a:chExt cx="749433" cy="667421"/>
          </a:xfrm>
        </p:grpSpPr>
        <p:sp>
          <p:nvSpPr>
            <p:cNvPr id="9" name="Rectangle 8">
              <a:extLst>
                <a:ext uri="{FF2B5EF4-FFF2-40B4-BE49-F238E27FC236}">
                  <a16:creationId xmlns:a16="http://schemas.microsoft.com/office/drawing/2014/main" id="{DC0EF508-F741-B787-1B66-ACD3BD756869}"/>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8AD648A-1F0A-EE46-58CA-3931DAE486D5}"/>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a:extLst>
              <a:ext uri="{FF2B5EF4-FFF2-40B4-BE49-F238E27FC236}">
                <a16:creationId xmlns:a16="http://schemas.microsoft.com/office/drawing/2014/main" id="{EB5C0E26-2FE9-DFB7-63F3-3EC28312812D}"/>
              </a:ext>
            </a:extLst>
          </p:cNvPr>
          <p:cNvPicPr>
            <a:picLocks noChangeAspect="1"/>
          </p:cNvPicPr>
          <p:nvPr/>
        </p:nvPicPr>
        <p:blipFill rotWithShape="1">
          <a:blip r:embed="rId2"/>
          <a:srcRect t="496" r="50632"/>
          <a:stretch/>
        </p:blipFill>
        <p:spPr>
          <a:xfrm>
            <a:off x="1028700" y="893618"/>
            <a:ext cx="5067300" cy="5356880"/>
          </a:xfrm>
          <a:prstGeom prst="rect">
            <a:avLst/>
          </a:prstGeom>
        </p:spPr>
      </p:pic>
      <p:grpSp>
        <p:nvGrpSpPr>
          <p:cNvPr id="14" name="Group 13">
            <a:extLst>
              <a:ext uri="{FF2B5EF4-FFF2-40B4-BE49-F238E27FC236}">
                <a16:creationId xmlns:a16="http://schemas.microsoft.com/office/drawing/2014/main" id="{A9A15E30-7228-62AC-75B0-7D8DB65CA7E9}"/>
              </a:ext>
            </a:extLst>
          </p:cNvPr>
          <p:cNvGrpSpPr/>
          <p:nvPr/>
        </p:nvGrpSpPr>
        <p:grpSpPr>
          <a:xfrm>
            <a:off x="128739" y="6079789"/>
            <a:ext cx="749433" cy="667421"/>
            <a:chOff x="11139222" y="235887"/>
            <a:chExt cx="749433" cy="667421"/>
          </a:xfrm>
        </p:grpSpPr>
        <p:sp>
          <p:nvSpPr>
            <p:cNvPr id="15" name="Rectangle 14">
              <a:extLst>
                <a:ext uri="{FF2B5EF4-FFF2-40B4-BE49-F238E27FC236}">
                  <a16:creationId xmlns:a16="http://schemas.microsoft.com/office/drawing/2014/main" id="{CFB5F860-F6DF-440E-EF61-9A67B4AE519D}"/>
                </a:ext>
              </a:extLst>
            </p:cNvPr>
            <p:cNvSpPr/>
            <p:nvPr/>
          </p:nvSpPr>
          <p:spPr>
            <a:xfrm>
              <a:off x="11379199" y="235887"/>
              <a:ext cx="509456" cy="496712"/>
            </a:xfrm>
            <a:prstGeom prst="rect">
              <a:avLst/>
            </a:prstGeom>
            <a:solidFill>
              <a:srgbClr val="2F52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C89A855-0A6B-85EA-938D-424FE58B7A92}"/>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2017766D-7AA8-48FA-9095-6A1E03918B6F}"/>
              </a:ext>
            </a:extLst>
          </p:cNvPr>
          <p:cNvPicPr>
            <a:picLocks noChangeAspect="1"/>
          </p:cNvPicPr>
          <p:nvPr/>
        </p:nvPicPr>
        <p:blipFill rotWithShape="1">
          <a:blip r:embed="rId3"/>
          <a:srcRect/>
          <a:stretch/>
        </p:blipFill>
        <p:spPr>
          <a:xfrm>
            <a:off x="6019072" y="829048"/>
            <a:ext cx="5670038" cy="5584452"/>
          </a:xfrm>
          <a:prstGeom prst="rect">
            <a:avLst/>
          </a:prstGeom>
        </p:spPr>
      </p:pic>
      <p:sp>
        <p:nvSpPr>
          <p:cNvPr id="4" name="TextBox 3">
            <a:extLst>
              <a:ext uri="{FF2B5EF4-FFF2-40B4-BE49-F238E27FC236}">
                <a16:creationId xmlns:a16="http://schemas.microsoft.com/office/drawing/2014/main" id="{74BBCFCB-9A3D-4913-8745-16F7A0163265}"/>
              </a:ext>
            </a:extLst>
          </p:cNvPr>
          <p:cNvSpPr txBox="1"/>
          <p:nvPr/>
        </p:nvSpPr>
        <p:spPr>
          <a:xfrm>
            <a:off x="6758761" y="1097114"/>
            <a:ext cx="4641739" cy="646331"/>
          </a:xfrm>
          <a:prstGeom prst="rect">
            <a:avLst/>
          </a:prstGeom>
          <a:solidFill>
            <a:schemeClr val="bg1"/>
          </a:solidFill>
        </p:spPr>
        <p:txBody>
          <a:bodyPr wrap="square" rtlCol="0">
            <a:spAutoFit/>
          </a:bodyPr>
          <a:lstStyle/>
          <a:p>
            <a:pPr algn="ctr"/>
            <a:r>
              <a:rPr lang="en-US" b="1" dirty="0"/>
              <a:t>Correlation between Precipitation and crop Yield</a:t>
            </a:r>
            <a:endParaRPr lang="en-US" b="1" dirty="0">
              <a:solidFill>
                <a:schemeClr val="bg1"/>
              </a:solidFill>
            </a:endParaRPr>
          </a:p>
        </p:txBody>
      </p:sp>
    </p:spTree>
    <p:extLst>
      <p:ext uri="{BB962C8B-B14F-4D97-AF65-F5344CB8AC3E}">
        <p14:creationId xmlns:p14="http://schemas.microsoft.com/office/powerpoint/2010/main" val="13059156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E0FA41-BEE1-6218-8719-E7CCE3E75A5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0F57BC4-EBB9-B774-C83F-CE4A658E6A77}"/>
              </a:ext>
            </a:extLst>
          </p:cNvPr>
          <p:cNvSpPr txBox="1"/>
          <p:nvPr/>
        </p:nvSpPr>
        <p:spPr>
          <a:xfrm>
            <a:off x="1202040" y="211004"/>
            <a:ext cx="9787920" cy="751744"/>
          </a:xfrm>
          <a:prstGeom prst="rect">
            <a:avLst/>
          </a:prstGeom>
          <a:noFill/>
        </p:spPr>
        <p:txBody>
          <a:bodyPr wrap="square">
            <a:spAutoFit/>
          </a:bodyPr>
          <a:lstStyle/>
          <a:p>
            <a:pPr algn="ctr">
              <a:lnSpc>
                <a:spcPct val="150000"/>
              </a:lnSpc>
            </a:pPr>
            <a:r>
              <a:rPr lang="en-US" sz="3200" b="1" dirty="0">
                <a:latin typeface="Copperplate Gothic Bold" panose="020E0705020206020404" pitchFamily="34" charset="0"/>
              </a:rPr>
              <a:t>Limitation</a:t>
            </a:r>
          </a:p>
        </p:txBody>
      </p:sp>
      <p:grpSp>
        <p:nvGrpSpPr>
          <p:cNvPr id="7" name="Group 6">
            <a:extLst>
              <a:ext uri="{FF2B5EF4-FFF2-40B4-BE49-F238E27FC236}">
                <a16:creationId xmlns:a16="http://schemas.microsoft.com/office/drawing/2014/main" id="{B94D19FF-C796-9CC9-0558-57FCC6356697}"/>
              </a:ext>
            </a:extLst>
          </p:cNvPr>
          <p:cNvGrpSpPr/>
          <p:nvPr/>
        </p:nvGrpSpPr>
        <p:grpSpPr>
          <a:xfrm flipH="1" flipV="1">
            <a:off x="346317" y="6020333"/>
            <a:ext cx="749433" cy="667421"/>
            <a:chOff x="11139222" y="235887"/>
            <a:chExt cx="749433" cy="667421"/>
          </a:xfrm>
        </p:grpSpPr>
        <p:sp>
          <p:nvSpPr>
            <p:cNvPr id="9" name="Rectangle 8">
              <a:extLst>
                <a:ext uri="{FF2B5EF4-FFF2-40B4-BE49-F238E27FC236}">
                  <a16:creationId xmlns:a16="http://schemas.microsoft.com/office/drawing/2014/main" id="{475BDD26-58B8-5A83-ADB4-852D4B74EBDA}"/>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ECB8D7-6DB0-79F6-6B01-D1A13AF8C4D2}"/>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FCADC90A-8975-65D5-69AC-0304251F64C9}"/>
              </a:ext>
            </a:extLst>
          </p:cNvPr>
          <p:cNvGrpSpPr/>
          <p:nvPr/>
        </p:nvGrpSpPr>
        <p:grpSpPr>
          <a:xfrm rot="16200000" flipV="1">
            <a:off x="11247711" y="133177"/>
            <a:ext cx="749433" cy="667421"/>
            <a:chOff x="11139222" y="235887"/>
            <a:chExt cx="749433" cy="667421"/>
          </a:xfrm>
        </p:grpSpPr>
        <p:sp>
          <p:nvSpPr>
            <p:cNvPr id="12" name="Rectangle 11">
              <a:extLst>
                <a:ext uri="{FF2B5EF4-FFF2-40B4-BE49-F238E27FC236}">
                  <a16:creationId xmlns:a16="http://schemas.microsoft.com/office/drawing/2014/main" id="{9BFDD3FA-888E-C1E3-057D-E347CD7623AA}"/>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D33C3-477C-4F30-EEA4-3C08B734C4CD}"/>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D0DD97B5-A751-4264-96E3-BBD7487FC67E}"/>
              </a:ext>
            </a:extLst>
          </p:cNvPr>
          <p:cNvSpPr txBox="1"/>
          <p:nvPr/>
        </p:nvSpPr>
        <p:spPr>
          <a:xfrm>
            <a:off x="834650" y="1406718"/>
            <a:ext cx="10702423" cy="2564228"/>
          </a:xfrm>
          <a:prstGeom prst="rect">
            <a:avLst/>
          </a:prstGeom>
          <a:noFill/>
        </p:spPr>
        <p:txBody>
          <a:bodyPr wrap="square" rtlCol="0">
            <a:spAutoFit/>
          </a:bodyPr>
          <a:lstStyle/>
          <a:p>
            <a:pPr marL="342900" lvl="0" indent="-342900">
              <a:lnSpc>
                <a:spcPct val="107000"/>
              </a:lnSpc>
              <a:spcAft>
                <a:spcPts val="800"/>
              </a:spcAft>
              <a:buFont typeface="+mj-lt"/>
              <a:buAutoNum type="arabicPeriod"/>
              <a:tabLst>
                <a:tab pos="457200" algn="l"/>
              </a:tabLst>
            </a:pPr>
            <a:r>
              <a:rPr lang="en-US" sz="2800" dirty="0">
                <a:effectLst/>
                <a:latin typeface="Agency FB" panose="020B0503020202020204" pitchFamily="34" charset="0"/>
                <a:ea typeface="Calibri" panose="020F0502020204030204" pitchFamily="34" charset="0"/>
                <a:cs typeface="Arial" panose="020B0604020202020204" pitchFamily="34" charset="0"/>
              </a:rPr>
              <a:t>The dataset is missing crucial regional and seasonal factors.</a:t>
            </a:r>
          </a:p>
          <a:p>
            <a:pPr marL="342900" lvl="0" indent="-342900">
              <a:lnSpc>
                <a:spcPct val="107000"/>
              </a:lnSpc>
              <a:spcAft>
                <a:spcPts val="800"/>
              </a:spcAft>
              <a:buFont typeface="+mj-lt"/>
              <a:buAutoNum type="arabicPeriod"/>
              <a:tabLst>
                <a:tab pos="457200" algn="l"/>
              </a:tabLst>
            </a:pPr>
            <a:r>
              <a:rPr lang="en-US" sz="2800" dirty="0">
                <a:effectLst/>
                <a:latin typeface="Agency FB" panose="020B0503020202020204" pitchFamily="34" charset="0"/>
                <a:ea typeface="Calibri" panose="020F0502020204030204" pitchFamily="34" charset="0"/>
                <a:cs typeface="Arial" panose="020B0604020202020204" pitchFamily="34" charset="0"/>
              </a:rPr>
              <a:t>Due to the limited and aggregated nature of the data, the model’s conclusions may not apply broadly to all contexts.</a:t>
            </a:r>
          </a:p>
          <a:p>
            <a:pPr marL="342900" lvl="0" indent="-342900">
              <a:lnSpc>
                <a:spcPct val="107000"/>
              </a:lnSpc>
              <a:spcAft>
                <a:spcPts val="800"/>
              </a:spcAft>
              <a:buFont typeface="+mj-lt"/>
              <a:buAutoNum type="arabicPeriod"/>
              <a:tabLst>
                <a:tab pos="457200" algn="l"/>
              </a:tabLst>
            </a:pPr>
            <a:r>
              <a:rPr lang="en-US" sz="2800" dirty="0">
                <a:effectLst/>
                <a:latin typeface="Agency FB" panose="020B0503020202020204" pitchFamily="34" charset="0"/>
                <a:ea typeface="Calibri" panose="020F0502020204030204" pitchFamily="34" charset="0"/>
                <a:cs typeface="Arial" panose="020B0604020202020204" pitchFamily="34" charset="0"/>
              </a:rPr>
              <a:t>The analysis overlook other influential factors, reducing the overall comprehensiveness of the insights.</a:t>
            </a:r>
          </a:p>
        </p:txBody>
      </p:sp>
    </p:spTree>
    <p:extLst>
      <p:ext uri="{BB962C8B-B14F-4D97-AF65-F5344CB8AC3E}">
        <p14:creationId xmlns:p14="http://schemas.microsoft.com/office/powerpoint/2010/main" val="17297196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D4327B-F39C-A983-EF46-8FB63B46A72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7BE9653-F22F-1E87-4AC5-AA646B358245}"/>
              </a:ext>
            </a:extLst>
          </p:cNvPr>
          <p:cNvSpPr txBox="1"/>
          <p:nvPr/>
        </p:nvSpPr>
        <p:spPr>
          <a:xfrm>
            <a:off x="1003221" y="92171"/>
            <a:ext cx="9787920" cy="751744"/>
          </a:xfrm>
          <a:prstGeom prst="rect">
            <a:avLst/>
          </a:prstGeom>
          <a:noFill/>
        </p:spPr>
        <p:txBody>
          <a:bodyPr wrap="square">
            <a:spAutoFit/>
          </a:bodyPr>
          <a:lstStyle/>
          <a:p>
            <a:pPr algn="ctr">
              <a:lnSpc>
                <a:spcPct val="150000"/>
              </a:lnSpc>
            </a:pPr>
            <a:r>
              <a:rPr lang="en-US" sz="3200" b="1" dirty="0">
                <a:latin typeface="Copperplate Gothic Bold" panose="020E0705020206020404" pitchFamily="34" charset="0"/>
              </a:rPr>
              <a:t>IMPROVEMENT</a:t>
            </a:r>
          </a:p>
        </p:txBody>
      </p:sp>
      <p:grpSp>
        <p:nvGrpSpPr>
          <p:cNvPr id="7" name="Group 6">
            <a:extLst>
              <a:ext uri="{FF2B5EF4-FFF2-40B4-BE49-F238E27FC236}">
                <a16:creationId xmlns:a16="http://schemas.microsoft.com/office/drawing/2014/main" id="{1D9697D4-16CA-04E7-03BB-64CA93077300}"/>
              </a:ext>
            </a:extLst>
          </p:cNvPr>
          <p:cNvGrpSpPr/>
          <p:nvPr/>
        </p:nvGrpSpPr>
        <p:grpSpPr>
          <a:xfrm flipH="1" flipV="1">
            <a:off x="211578" y="6087247"/>
            <a:ext cx="749433" cy="667421"/>
            <a:chOff x="11139222" y="235887"/>
            <a:chExt cx="749433" cy="667421"/>
          </a:xfrm>
        </p:grpSpPr>
        <p:sp>
          <p:nvSpPr>
            <p:cNvPr id="9" name="Rectangle 8">
              <a:extLst>
                <a:ext uri="{FF2B5EF4-FFF2-40B4-BE49-F238E27FC236}">
                  <a16:creationId xmlns:a16="http://schemas.microsoft.com/office/drawing/2014/main" id="{1F8E1F56-5822-93D2-9364-A235E2CFF66E}"/>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2176BFD-62E2-E081-3B2B-741A2A45B253}"/>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A57E9B18-DEB1-815B-AF51-28CD8797977B}"/>
              </a:ext>
            </a:extLst>
          </p:cNvPr>
          <p:cNvGrpSpPr/>
          <p:nvPr/>
        </p:nvGrpSpPr>
        <p:grpSpPr>
          <a:xfrm rot="16200000" flipV="1">
            <a:off x="11247711" y="133177"/>
            <a:ext cx="749433" cy="667421"/>
            <a:chOff x="11139222" y="235887"/>
            <a:chExt cx="749433" cy="667421"/>
          </a:xfrm>
        </p:grpSpPr>
        <p:sp>
          <p:nvSpPr>
            <p:cNvPr id="12" name="Rectangle 11">
              <a:extLst>
                <a:ext uri="{FF2B5EF4-FFF2-40B4-BE49-F238E27FC236}">
                  <a16:creationId xmlns:a16="http://schemas.microsoft.com/office/drawing/2014/main" id="{DE058E6E-51AB-0371-8632-3A1F36AD02E9}"/>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AC64353-4EFD-EC15-F2E4-767B34FF6864}"/>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43287B02-4049-A918-B8BF-218C8FA19A27}"/>
              </a:ext>
            </a:extLst>
          </p:cNvPr>
          <p:cNvSpPr txBox="1"/>
          <p:nvPr/>
        </p:nvSpPr>
        <p:spPr>
          <a:xfrm>
            <a:off x="586295" y="1081581"/>
            <a:ext cx="11199134" cy="5005666"/>
          </a:xfrm>
          <a:prstGeom prst="rect">
            <a:avLst/>
          </a:prstGeom>
          <a:noFill/>
        </p:spPr>
        <p:txBody>
          <a:bodyPr wrap="square">
            <a:spAutoFit/>
          </a:bodyPr>
          <a:lstStyle/>
          <a:p>
            <a:pPr algn="just">
              <a:lnSpc>
                <a:spcPct val="150000"/>
              </a:lnSpc>
            </a:pPr>
            <a:r>
              <a:rPr lang="en-US" sz="2400" b="1" dirty="0">
                <a:latin typeface="Agency FB" panose="020B0503020202020204" pitchFamily="34" charset="0"/>
                <a:cs typeface="Times New Roman" panose="02020603050405020304" pitchFamily="18" charset="0"/>
              </a:rPr>
              <a:t>Expand Data Collection:</a:t>
            </a:r>
            <a:r>
              <a:rPr lang="en-US" sz="2400" dirty="0">
                <a:latin typeface="Agency FB" panose="020B0503020202020204" pitchFamily="34" charset="0"/>
                <a:cs typeface="Times New Roman" panose="02020603050405020304" pitchFamily="18" charset="0"/>
              </a:rPr>
              <a:t> We would gather a larger dataset, including regional and seasonal data, to capture a full picture of agricultural performance across different geographies.</a:t>
            </a:r>
          </a:p>
          <a:p>
            <a:pPr algn="just">
              <a:lnSpc>
                <a:spcPct val="150000"/>
              </a:lnSpc>
            </a:pPr>
            <a:r>
              <a:rPr lang="en-US" sz="2400" b="1" dirty="0">
                <a:latin typeface="Agency FB" panose="020B0503020202020204" pitchFamily="34" charset="0"/>
                <a:cs typeface="Times New Roman" panose="02020603050405020304" pitchFamily="18" charset="0"/>
              </a:rPr>
              <a:t>Enhance Data Quality and Consistency</a:t>
            </a:r>
            <a:r>
              <a:rPr lang="en-US" sz="2400" dirty="0">
                <a:latin typeface="Agency FB" panose="020B0503020202020204" pitchFamily="34" charset="0"/>
                <a:cs typeface="Times New Roman" panose="02020603050405020304" pitchFamily="18" charset="0"/>
              </a:rPr>
              <a:t>: We would implement standardized data collection procedures and conduct rigorous quality checks.</a:t>
            </a:r>
          </a:p>
          <a:p>
            <a:pPr algn="just">
              <a:lnSpc>
                <a:spcPct val="150000"/>
              </a:lnSpc>
            </a:pPr>
            <a:r>
              <a:rPr lang="en-US" sz="2400" b="1" dirty="0">
                <a:latin typeface="Agency FB" panose="020B0503020202020204" pitchFamily="34" charset="0"/>
                <a:cs typeface="Times New Roman" panose="02020603050405020304" pitchFamily="18" charset="0"/>
              </a:rPr>
              <a:t>Integrate Additional Variables</a:t>
            </a:r>
            <a:r>
              <a:rPr lang="en-US" sz="2400" dirty="0">
                <a:latin typeface="Agency FB" panose="020B0503020202020204" pitchFamily="34" charset="0"/>
                <a:cs typeface="Times New Roman" panose="02020603050405020304" pitchFamily="18" charset="0"/>
              </a:rPr>
              <a:t>: Adding other relevant factors such as soil types, local climate trends, and socioeconomic indicators would create a more robust model.</a:t>
            </a:r>
          </a:p>
          <a:p>
            <a:pPr algn="just">
              <a:lnSpc>
                <a:spcPct val="150000"/>
              </a:lnSpc>
            </a:pPr>
            <a:r>
              <a:rPr lang="en-US" sz="2400" b="1" dirty="0">
                <a:latin typeface="Agency FB" panose="020B0503020202020204" pitchFamily="34" charset="0"/>
                <a:cs typeface="Times New Roman" panose="02020603050405020304" pitchFamily="18" charset="0"/>
              </a:rPr>
              <a:t>Utilize Advanced Analytical Methods</a:t>
            </a:r>
            <a:r>
              <a:rPr lang="en-US" sz="2400" dirty="0">
                <a:latin typeface="Agency FB" panose="020B0503020202020204" pitchFamily="34" charset="0"/>
                <a:cs typeface="Times New Roman" panose="02020603050405020304" pitchFamily="18" charset="0"/>
              </a:rPr>
              <a:t>: With more time and expertise, advanced statistical and machine learning techniques could be employed to uncover non-linear relationships and interactions among variables for deeper insights.</a:t>
            </a:r>
          </a:p>
        </p:txBody>
      </p:sp>
    </p:spTree>
    <p:extLst>
      <p:ext uri="{BB962C8B-B14F-4D97-AF65-F5344CB8AC3E}">
        <p14:creationId xmlns:p14="http://schemas.microsoft.com/office/powerpoint/2010/main" val="19683645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DC101-C519-B227-2239-DCA84355252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108A398-1678-0CC9-2A54-C611980050A1}"/>
              </a:ext>
            </a:extLst>
          </p:cNvPr>
          <p:cNvSpPr txBox="1"/>
          <p:nvPr/>
        </p:nvSpPr>
        <p:spPr>
          <a:xfrm>
            <a:off x="3624492" y="158309"/>
            <a:ext cx="4943016" cy="584775"/>
          </a:xfrm>
          <a:prstGeom prst="rect">
            <a:avLst/>
          </a:prstGeom>
          <a:noFill/>
        </p:spPr>
        <p:txBody>
          <a:bodyPr wrap="square">
            <a:spAutoFit/>
          </a:bodyPr>
          <a:lstStyle/>
          <a:p>
            <a:pPr algn="ctr"/>
            <a:r>
              <a:rPr lang="en-US" sz="3200" b="1" i="0" dirty="0">
                <a:solidFill>
                  <a:schemeClr val="tx1">
                    <a:lumMod val="95000"/>
                    <a:lumOff val="5000"/>
                  </a:schemeClr>
                </a:solidFill>
                <a:effectLst/>
                <a:latin typeface="Copperplate Gothic Bold" panose="020E0705020206020404" pitchFamily="34" charset="0"/>
              </a:rPr>
              <a:t>Recommendations</a:t>
            </a:r>
          </a:p>
        </p:txBody>
      </p:sp>
      <p:sp>
        <p:nvSpPr>
          <p:cNvPr id="2" name="TextBox 1">
            <a:extLst>
              <a:ext uri="{FF2B5EF4-FFF2-40B4-BE49-F238E27FC236}">
                <a16:creationId xmlns:a16="http://schemas.microsoft.com/office/drawing/2014/main" id="{7A1ECA0B-8ED9-E920-8C65-82D1B68C277F}"/>
              </a:ext>
            </a:extLst>
          </p:cNvPr>
          <p:cNvSpPr txBox="1"/>
          <p:nvPr/>
        </p:nvSpPr>
        <p:spPr>
          <a:xfrm>
            <a:off x="596901" y="1393837"/>
            <a:ext cx="10909300" cy="3697166"/>
          </a:xfrm>
          <a:custGeom>
            <a:avLst/>
            <a:gdLst>
              <a:gd name="connsiteX0" fmla="*/ 0 w 10909300"/>
              <a:gd name="connsiteY0" fmla="*/ 0 h 3697166"/>
              <a:gd name="connsiteX1" fmla="*/ 465081 w 10909300"/>
              <a:gd name="connsiteY1" fmla="*/ 0 h 3697166"/>
              <a:gd name="connsiteX2" fmla="*/ 711975 w 10909300"/>
              <a:gd name="connsiteY2" fmla="*/ 0 h 3697166"/>
              <a:gd name="connsiteX3" fmla="*/ 1504335 w 10909300"/>
              <a:gd name="connsiteY3" fmla="*/ 0 h 3697166"/>
              <a:gd name="connsiteX4" fmla="*/ 1969416 w 10909300"/>
              <a:gd name="connsiteY4" fmla="*/ 0 h 3697166"/>
              <a:gd name="connsiteX5" fmla="*/ 2434496 w 10909300"/>
              <a:gd name="connsiteY5" fmla="*/ 0 h 3697166"/>
              <a:gd name="connsiteX6" fmla="*/ 3226856 w 10909300"/>
              <a:gd name="connsiteY6" fmla="*/ 0 h 3697166"/>
              <a:gd name="connsiteX7" fmla="*/ 3582844 w 10909300"/>
              <a:gd name="connsiteY7" fmla="*/ 0 h 3697166"/>
              <a:gd name="connsiteX8" fmla="*/ 4375203 w 10909300"/>
              <a:gd name="connsiteY8" fmla="*/ 0 h 3697166"/>
              <a:gd name="connsiteX9" fmla="*/ 5167563 w 10909300"/>
              <a:gd name="connsiteY9" fmla="*/ 0 h 3697166"/>
              <a:gd name="connsiteX10" fmla="*/ 5741737 w 10909300"/>
              <a:gd name="connsiteY10" fmla="*/ 0 h 3697166"/>
              <a:gd name="connsiteX11" fmla="*/ 6534097 w 10909300"/>
              <a:gd name="connsiteY11" fmla="*/ 0 h 3697166"/>
              <a:gd name="connsiteX12" fmla="*/ 6999177 w 10909300"/>
              <a:gd name="connsiteY12" fmla="*/ 0 h 3697166"/>
              <a:gd name="connsiteX13" fmla="*/ 7464258 w 10909300"/>
              <a:gd name="connsiteY13" fmla="*/ 0 h 3697166"/>
              <a:gd name="connsiteX14" fmla="*/ 8147525 w 10909300"/>
              <a:gd name="connsiteY14" fmla="*/ 0 h 3697166"/>
              <a:gd name="connsiteX15" fmla="*/ 8612605 w 10909300"/>
              <a:gd name="connsiteY15" fmla="*/ 0 h 3697166"/>
              <a:gd name="connsiteX16" fmla="*/ 9404965 w 10909300"/>
              <a:gd name="connsiteY16" fmla="*/ 0 h 3697166"/>
              <a:gd name="connsiteX17" fmla="*/ 10197325 w 10909300"/>
              <a:gd name="connsiteY17" fmla="*/ 0 h 3697166"/>
              <a:gd name="connsiteX18" fmla="*/ 10909300 w 10909300"/>
              <a:gd name="connsiteY18" fmla="*/ 0 h 3697166"/>
              <a:gd name="connsiteX19" fmla="*/ 10909300 w 10909300"/>
              <a:gd name="connsiteY19" fmla="*/ 491195 h 3697166"/>
              <a:gd name="connsiteX20" fmla="*/ 10909300 w 10909300"/>
              <a:gd name="connsiteY20" fmla="*/ 908447 h 3697166"/>
              <a:gd name="connsiteX21" fmla="*/ 10909300 w 10909300"/>
              <a:gd name="connsiteY21" fmla="*/ 1362670 h 3697166"/>
              <a:gd name="connsiteX22" fmla="*/ 10909300 w 10909300"/>
              <a:gd name="connsiteY22" fmla="*/ 1927808 h 3697166"/>
              <a:gd name="connsiteX23" fmla="*/ 10909300 w 10909300"/>
              <a:gd name="connsiteY23" fmla="*/ 2419003 h 3697166"/>
              <a:gd name="connsiteX24" fmla="*/ 10909300 w 10909300"/>
              <a:gd name="connsiteY24" fmla="*/ 2873226 h 3697166"/>
              <a:gd name="connsiteX25" fmla="*/ 10909300 w 10909300"/>
              <a:gd name="connsiteY25" fmla="*/ 3697166 h 3697166"/>
              <a:gd name="connsiteX26" fmla="*/ 10335126 w 10909300"/>
              <a:gd name="connsiteY26" fmla="*/ 3697166 h 3697166"/>
              <a:gd name="connsiteX27" fmla="*/ 9760953 w 10909300"/>
              <a:gd name="connsiteY27" fmla="*/ 3697166 h 3697166"/>
              <a:gd name="connsiteX28" fmla="*/ 9404965 w 10909300"/>
              <a:gd name="connsiteY28" fmla="*/ 3697166 h 3697166"/>
              <a:gd name="connsiteX29" fmla="*/ 8721698 w 10909300"/>
              <a:gd name="connsiteY29" fmla="*/ 3697166 h 3697166"/>
              <a:gd name="connsiteX30" fmla="*/ 8365711 w 10909300"/>
              <a:gd name="connsiteY30" fmla="*/ 3697166 h 3697166"/>
              <a:gd name="connsiteX31" fmla="*/ 7682444 w 10909300"/>
              <a:gd name="connsiteY31" fmla="*/ 3697166 h 3697166"/>
              <a:gd name="connsiteX32" fmla="*/ 7435549 w 10909300"/>
              <a:gd name="connsiteY32" fmla="*/ 3697166 h 3697166"/>
              <a:gd name="connsiteX33" fmla="*/ 6752283 w 10909300"/>
              <a:gd name="connsiteY33" fmla="*/ 3697166 h 3697166"/>
              <a:gd name="connsiteX34" fmla="*/ 6396295 w 10909300"/>
              <a:gd name="connsiteY34" fmla="*/ 3697166 h 3697166"/>
              <a:gd name="connsiteX35" fmla="*/ 6149400 w 10909300"/>
              <a:gd name="connsiteY35" fmla="*/ 3697166 h 3697166"/>
              <a:gd name="connsiteX36" fmla="*/ 5793412 w 10909300"/>
              <a:gd name="connsiteY36" fmla="*/ 3697166 h 3697166"/>
              <a:gd name="connsiteX37" fmla="*/ 5110146 w 10909300"/>
              <a:gd name="connsiteY37" fmla="*/ 3697166 h 3697166"/>
              <a:gd name="connsiteX38" fmla="*/ 4754158 w 10909300"/>
              <a:gd name="connsiteY38" fmla="*/ 3697166 h 3697166"/>
              <a:gd name="connsiteX39" fmla="*/ 4507263 w 10909300"/>
              <a:gd name="connsiteY39" fmla="*/ 3697166 h 3697166"/>
              <a:gd name="connsiteX40" fmla="*/ 4151276 w 10909300"/>
              <a:gd name="connsiteY40" fmla="*/ 3697166 h 3697166"/>
              <a:gd name="connsiteX41" fmla="*/ 3686195 w 10909300"/>
              <a:gd name="connsiteY41" fmla="*/ 3697166 h 3697166"/>
              <a:gd name="connsiteX42" fmla="*/ 3112021 w 10909300"/>
              <a:gd name="connsiteY42" fmla="*/ 3697166 h 3697166"/>
              <a:gd name="connsiteX43" fmla="*/ 2756034 w 10909300"/>
              <a:gd name="connsiteY43" fmla="*/ 3697166 h 3697166"/>
              <a:gd name="connsiteX44" fmla="*/ 1963674 w 10909300"/>
              <a:gd name="connsiteY44" fmla="*/ 3697166 h 3697166"/>
              <a:gd name="connsiteX45" fmla="*/ 1389500 w 10909300"/>
              <a:gd name="connsiteY45" fmla="*/ 3697166 h 3697166"/>
              <a:gd name="connsiteX46" fmla="*/ 597141 w 10909300"/>
              <a:gd name="connsiteY46" fmla="*/ 3697166 h 3697166"/>
              <a:gd name="connsiteX47" fmla="*/ 0 w 10909300"/>
              <a:gd name="connsiteY47" fmla="*/ 3697166 h 3697166"/>
              <a:gd name="connsiteX48" fmla="*/ 0 w 10909300"/>
              <a:gd name="connsiteY48" fmla="*/ 3205971 h 3697166"/>
              <a:gd name="connsiteX49" fmla="*/ 0 w 10909300"/>
              <a:gd name="connsiteY49" fmla="*/ 2714776 h 3697166"/>
              <a:gd name="connsiteX50" fmla="*/ 0 w 10909300"/>
              <a:gd name="connsiteY50" fmla="*/ 2149638 h 3697166"/>
              <a:gd name="connsiteX51" fmla="*/ 0 w 10909300"/>
              <a:gd name="connsiteY51" fmla="*/ 1621471 h 3697166"/>
              <a:gd name="connsiteX52" fmla="*/ 0 w 10909300"/>
              <a:gd name="connsiteY52" fmla="*/ 1019361 h 3697166"/>
              <a:gd name="connsiteX53" fmla="*/ 0 w 10909300"/>
              <a:gd name="connsiteY53" fmla="*/ 0 h 369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0909300" h="3697166" extrusionOk="0">
                <a:moveTo>
                  <a:pt x="0" y="0"/>
                </a:moveTo>
                <a:cubicBezTo>
                  <a:pt x="206429" y="-32583"/>
                  <a:pt x="364123" y="6037"/>
                  <a:pt x="465081" y="0"/>
                </a:cubicBezTo>
                <a:cubicBezTo>
                  <a:pt x="566039" y="-6037"/>
                  <a:pt x="625662" y="14036"/>
                  <a:pt x="711975" y="0"/>
                </a:cubicBezTo>
                <a:cubicBezTo>
                  <a:pt x="798288" y="-14036"/>
                  <a:pt x="1215304" y="14765"/>
                  <a:pt x="1504335" y="0"/>
                </a:cubicBezTo>
                <a:cubicBezTo>
                  <a:pt x="1793366" y="-14765"/>
                  <a:pt x="1844065" y="30156"/>
                  <a:pt x="1969416" y="0"/>
                </a:cubicBezTo>
                <a:cubicBezTo>
                  <a:pt x="2094767" y="-30156"/>
                  <a:pt x="2256476" y="42327"/>
                  <a:pt x="2434496" y="0"/>
                </a:cubicBezTo>
                <a:cubicBezTo>
                  <a:pt x="2612516" y="-42327"/>
                  <a:pt x="2859812" y="38546"/>
                  <a:pt x="3226856" y="0"/>
                </a:cubicBezTo>
                <a:cubicBezTo>
                  <a:pt x="3593900" y="-38546"/>
                  <a:pt x="3501899" y="24524"/>
                  <a:pt x="3582844" y="0"/>
                </a:cubicBezTo>
                <a:cubicBezTo>
                  <a:pt x="3663789" y="-24524"/>
                  <a:pt x="4153762" y="5664"/>
                  <a:pt x="4375203" y="0"/>
                </a:cubicBezTo>
                <a:cubicBezTo>
                  <a:pt x="4596644" y="-5664"/>
                  <a:pt x="4835322" y="87867"/>
                  <a:pt x="5167563" y="0"/>
                </a:cubicBezTo>
                <a:cubicBezTo>
                  <a:pt x="5499804" y="-87867"/>
                  <a:pt x="5494384" y="33470"/>
                  <a:pt x="5741737" y="0"/>
                </a:cubicBezTo>
                <a:cubicBezTo>
                  <a:pt x="5989090" y="-33470"/>
                  <a:pt x="6297684" y="82879"/>
                  <a:pt x="6534097" y="0"/>
                </a:cubicBezTo>
                <a:cubicBezTo>
                  <a:pt x="6770510" y="-82879"/>
                  <a:pt x="6860968" y="3994"/>
                  <a:pt x="6999177" y="0"/>
                </a:cubicBezTo>
                <a:cubicBezTo>
                  <a:pt x="7137386" y="-3994"/>
                  <a:pt x="7281905" y="17618"/>
                  <a:pt x="7464258" y="0"/>
                </a:cubicBezTo>
                <a:cubicBezTo>
                  <a:pt x="7646611" y="-17618"/>
                  <a:pt x="7914832" y="76872"/>
                  <a:pt x="8147525" y="0"/>
                </a:cubicBezTo>
                <a:cubicBezTo>
                  <a:pt x="8380218" y="-76872"/>
                  <a:pt x="8472179" y="50926"/>
                  <a:pt x="8612605" y="0"/>
                </a:cubicBezTo>
                <a:cubicBezTo>
                  <a:pt x="8753031" y="-50926"/>
                  <a:pt x="9175746" y="11978"/>
                  <a:pt x="9404965" y="0"/>
                </a:cubicBezTo>
                <a:cubicBezTo>
                  <a:pt x="9634184" y="-11978"/>
                  <a:pt x="9801817" y="83272"/>
                  <a:pt x="10197325" y="0"/>
                </a:cubicBezTo>
                <a:cubicBezTo>
                  <a:pt x="10592833" y="-83272"/>
                  <a:pt x="10605555" y="17935"/>
                  <a:pt x="10909300" y="0"/>
                </a:cubicBezTo>
                <a:cubicBezTo>
                  <a:pt x="10920142" y="193443"/>
                  <a:pt x="10874720" y="321992"/>
                  <a:pt x="10909300" y="491195"/>
                </a:cubicBezTo>
                <a:cubicBezTo>
                  <a:pt x="10943880" y="660399"/>
                  <a:pt x="10874022" y="796301"/>
                  <a:pt x="10909300" y="908447"/>
                </a:cubicBezTo>
                <a:cubicBezTo>
                  <a:pt x="10944578" y="1020593"/>
                  <a:pt x="10891826" y="1182012"/>
                  <a:pt x="10909300" y="1362670"/>
                </a:cubicBezTo>
                <a:cubicBezTo>
                  <a:pt x="10926774" y="1543328"/>
                  <a:pt x="10848375" y="1655796"/>
                  <a:pt x="10909300" y="1927808"/>
                </a:cubicBezTo>
                <a:cubicBezTo>
                  <a:pt x="10970225" y="2199820"/>
                  <a:pt x="10907459" y="2229399"/>
                  <a:pt x="10909300" y="2419003"/>
                </a:cubicBezTo>
                <a:cubicBezTo>
                  <a:pt x="10911141" y="2608607"/>
                  <a:pt x="10869235" y="2777414"/>
                  <a:pt x="10909300" y="2873226"/>
                </a:cubicBezTo>
                <a:cubicBezTo>
                  <a:pt x="10949365" y="2969038"/>
                  <a:pt x="10813739" y="3344431"/>
                  <a:pt x="10909300" y="3697166"/>
                </a:cubicBezTo>
                <a:cubicBezTo>
                  <a:pt x="10725833" y="3700185"/>
                  <a:pt x="10601339" y="3645266"/>
                  <a:pt x="10335126" y="3697166"/>
                </a:cubicBezTo>
                <a:cubicBezTo>
                  <a:pt x="10068913" y="3749066"/>
                  <a:pt x="9904049" y="3640329"/>
                  <a:pt x="9760953" y="3697166"/>
                </a:cubicBezTo>
                <a:cubicBezTo>
                  <a:pt x="9617857" y="3754003"/>
                  <a:pt x="9535477" y="3672987"/>
                  <a:pt x="9404965" y="3697166"/>
                </a:cubicBezTo>
                <a:cubicBezTo>
                  <a:pt x="9274453" y="3721345"/>
                  <a:pt x="8990450" y="3657708"/>
                  <a:pt x="8721698" y="3697166"/>
                </a:cubicBezTo>
                <a:cubicBezTo>
                  <a:pt x="8452946" y="3736624"/>
                  <a:pt x="8522901" y="3686078"/>
                  <a:pt x="8365711" y="3697166"/>
                </a:cubicBezTo>
                <a:cubicBezTo>
                  <a:pt x="8208521" y="3708254"/>
                  <a:pt x="7862325" y="3678296"/>
                  <a:pt x="7682444" y="3697166"/>
                </a:cubicBezTo>
                <a:cubicBezTo>
                  <a:pt x="7502563" y="3716036"/>
                  <a:pt x="7499459" y="3671183"/>
                  <a:pt x="7435549" y="3697166"/>
                </a:cubicBezTo>
                <a:cubicBezTo>
                  <a:pt x="7371639" y="3723149"/>
                  <a:pt x="6927588" y="3624633"/>
                  <a:pt x="6752283" y="3697166"/>
                </a:cubicBezTo>
                <a:cubicBezTo>
                  <a:pt x="6576978" y="3769699"/>
                  <a:pt x="6503401" y="3678594"/>
                  <a:pt x="6396295" y="3697166"/>
                </a:cubicBezTo>
                <a:cubicBezTo>
                  <a:pt x="6289189" y="3715738"/>
                  <a:pt x="6255095" y="3672742"/>
                  <a:pt x="6149400" y="3697166"/>
                </a:cubicBezTo>
                <a:cubicBezTo>
                  <a:pt x="6043705" y="3721590"/>
                  <a:pt x="5920151" y="3675737"/>
                  <a:pt x="5793412" y="3697166"/>
                </a:cubicBezTo>
                <a:cubicBezTo>
                  <a:pt x="5666673" y="3718595"/>
                  <a:pt x="5396766" y="3662147"/>
                  <a:pt x="5110146" y="3697166"/>
                </a:cubicBezTo>
                <a:cubicBezTo>
                  <a:pt x="4823526" y="3732185"/>
                  <a:pt x="4853909" y="3680705"/>
                  <a:pt x="4754158" y="3697166"/>
                </a:cubicBezTo>
                <a:cubicBezTo>
                  <a:pt x="4654407" y="3713627"/>
                  <a:pt x="4560450" y="3695731"/>
                  <a:pt x="4507263" y="3697166"/>
                </a:cubicBezTo>
                <a:cubicBezTo>
                  <a:pt x="4454076" y="3698601"/>
                  <a:pt x="4285496" y="3665246"/>
                  <a:pt x="4151276" y="3697166"/>
                </a:cubicBezTo>
                <a:cubicBezTo>
                  <a:pt x="4017056" y="3729086"/>
                  <a:pt x="3794609" y="3686948"/>
                  <a:pt x="3686195" y="3697166"/>
                </a:cubicBezTo>
                <a:cubicBezTo>
                  <a:pt x="3577781" y="3707384"/>
                  <a:pt x="3319554" y="3661192"/>
                  <a:pt x="3112021" y="3697166"/>
                </a:cubicBezTo>
                <a:cubicBezTo>
                  <a:pt x="2904488" y="3733140"/>
                  <a:pt x="2889322" y="3681749"/>
                  <a:pt x="2756034" y="3697166"/>
                </a:cubicBezTo>
                <a:cubicBezTo>
                  <a:pt x="2622746" y="3712583"/>
                  <a:pt x="2209095" y="3665647"/>
                  <a:pt x="1963674" y="3697166"/>
                </a:cubicBezTo>
                <a:cubicBezTo>
                  <a:pt x="1718253" y="3728685"/>
                  <a:pt x="1648204" y="3670338"/>
                  <a:pt x="1389500" y="3697166"/>
                </a:cubicBezTo>
                <a:cubicBezTo>
                  <a:pt x="1130796" y="3723994"/>
                  <a:pt x="879359" y="3690487"/>
                  <a:pt x="597141" y="3697166"/>
                </a:cubicBezTo>
                <a:cubicBezTo>
                  <a:pt x="314923" y="3703845"/>
                  <a:pt x="161342" y="3676072"/>
                  <a:pt x="0" y="3697166"/>
                </a:cubicBezTo>
                <a:cubicBezTo>
                  <a:pt x="-7755" y="3554319"/>
                  <a:pt x="1340" y="3450322"/>
                  <a:pt x="0" y="3205971"/>
                </a:cubicBezTo>
                <a:cubicBezTo>
                  <a:pt x="-1340" y="2961621"/>
                  <a:pt x="25068" y="2892299"/>
                  <a:pt x="0" y="2714776"/>
                </a:cubicBezTo>
                <a:cubicBezTo>
                  <a:pt x="-25068" y="2537253"/>
                  <a:pt x="30179" y="2418321"/>
                  <a:pt x="0" y="2149638"/>
                </a:cubicBezTo>
                <a:cubicBezTo>
                  <a:pt x="-30179" y="1880955"/>
                  <a:pt x="52794" y="1866140"/>
                  <a:pt x="0" y="1621471"/>
                </a:cubicBezTo>
                <a:cubicBezTo>
                  <a:pt x="-52794" y="1376802"/>
                  <a:pt x="13721" y="1241281"/>
                  <a:pt x="0" y="1019361"/>
                </a:cubicBezTo>
                <a:cubicBezTo>
                  <a:pt x="-13721" y="797441"/>
                  <a:pt x="61760" y="322071"/>
                  <a:pt x="0" y="0"/>
                </a:cubicBezTo>
                <a:close/>
              </a:path>
            </a:pathLst>
          </a:custGeom>
          <a:noFill/>
          <a:ln cmpd="thickThin">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marL="514350" indent="-514350">
              <a:lnSpc>
                <a:spcPct val="150000"/>
              </a:lnSpc>
              <a:buAutoNum type="arabicPeriod"/>
            </a:pPr>
            <a:r>
              <a:rPr lang="en-US" sz="3200" i="0" dirty="0">
                <a:solidFill>
                  <a:schemeClr val="tx1">
                    <a:lumMod val="95000"/>
                    <a:lumOff val="5000"/>
                  </a:schemeClr>
                </a:solidFill>
                <a:effectLst/>
                <a:latin typeface="Agency FB" panose="020B0503020202020204" pitchFamily="34" charset="0"/>
                <a:cs typeface="Times New Roman" panose="02020603050405020304" pitchFamily="18" charset="0"/>
              </a:rPr>
              <a:t>Invest in High-Yield Markets</a:t>
            </a:r>
          </a:p>
          <a:p>
            <a:pPr marL="514350" indent="-514350">
              <a:lnSpc>
                <a:spcPct val="150000"/>
              </a:lnSpc>
              <a:buAutoNum type="arabicPeriod"/>
            </a:pPr>
            <a:r>
              <a:rPr lang="en-US" sz="3200" i="0" dirty="0">
                <a:solidFill>
                  <a:schemeClr val="tx1">
                    <a:lumMod val="95000"/>
                    <a:lumOff val="5000"/>
                  </a:schemeClr>
                </a:solidFill>
                <a:effectLst/>
                <a:latin typeface="Agency FB" panose="020B0503020202020204" pitchFamily="34" charset="0"/>
                <a:cs typeface="Times New Roman" panose="02020603050405020304" pitchFamily="18" charset="0"/>
              </a:rPr>
              <a:t>Enhance Water Management Infrastructure</a:t>
            </a:r>
          </a:p>
          <a:p>
            <a:pPr marL="514350" indent="-514350">
              <a:lnSpc>
                <a:spcPct val="150000"/>
              </a:lnSpc>
              <a:buAutoNum type="arabicPeriod"/>
            </a:pPr>
            <a:r>
              <a:rPr lang="en-US" sz="3200" i="0" dirty="0">
                <a:solidFill>
                  <a:schemeClr val="tx1">
                    <a:lumMod val="95000"/>
                    <a:lumOff val="5000"/>
                  </a:schemeClr>
                </a:solidFill>
                <a:effectLst/>
                <a:latin typeface="Agency FB" panose="020B0503020202020204" pitchFamily="34" charset="0"/>
                <a:cs typeface="Times New Roman" panose="02020603050405020304" pitchFamily="18" charset="0"/>
              </a:rPr>
              <a:t>Optimize Crop Mix and Economic Portfolios</a:t>
            </a:r>
          </a:p>
          <a:p>
            <a:pPr marL="514350" indent="-514350">
              <a:lnSpc>
                <a:spcPct val="150000"/>
              </a:lnSpc>
              <a:buAutoNum type="arabicPeriod"/>
            </a:pPr>
            <a:r>
              <a:rPr lang="en-US" sz="3200" i="0" dirty="0">
                <a:solidFill>
                  <a:schemeClr val="tx1">
                    <a:lumMod val="95000"/>
                    <a:lumOff val="5000"/>
                  </a:schemeClr>
                </a:solidFill>
                <a:effectLst/>
                <a:latin typeface="Agency FB" panose="020B0503020202020204" pitchFamily="34" charset="0"/>
                <a:cs typeface="Times New Roman" panose="02020603050405020304" pitchFamily="18" charset="0"/>
              </a:rPr>
              <a:t>Embrace Technological Innovations</a:t>
            </a:r>
          </a:p>
          <a:p>
            <a:pPr marL="514350" indent="-514350">
              <a:lnSpc>
                <a:spcPct val="150000"/>
              </a:lnSpc>
              <a:buAutoNum type="arabicPeriod"/>
            </a:pPr>
            <a:r>
              <a:rPr lang="en-US" sz="3200" i="0" dirty="0">
                <a:solidFill>
                  <a:schemeClr val="tx1">
                    <a:lumMod val="95000"/>
                    <a:lumOff val="5000"/>
                  </a:schemeClr>
                </a:solidFill>
                <a:effectLst/>
                <a:latin typeface="Agency FB" panose="020B0503020202020204" pitchFamily="34" charset="0"/>
                <a:cs typeface="Times New Roman" panose="02020603050405020304" pitchFamily="18" charset="0"/>
              </a:rPr>
              <a:t>Adopt a Diversified Adaptation Strategy</a:t>
            </a:r>
          </a:p>
        </p:txBody>
      </p:sp>
      <p:grpSp>
        <p:nvGrpSpPr>
          <p:cNvPr id="6" name="Group 5">
            <a:extLst>
              <a:ext uri="{FF2B5EF4-FFF2-40B4-BE49-F238E27FC236}">
                <a16:creationId xmlns:a16="http://schemas.microsoft.com/office/drawing/2014/main" id="{DAFB1360-FEE7-4825-A4F2-5E272EC36DD9}"/>
              </a:ext>
            </a:extLst>
          </p:cNvPr>
          <p:cNvGrpSpPr/>
          <p:nvPr/>
        </p:nvGrpSpPr>
        <p:grpSpPr>
          <a:xfrm rot="16200000" flipV="1">
            <a:off x="11247711" y="133177"/>
            <a:ext cx="749433" cy="667421"/>
            <a:chOff x="11139222" y="235887"/>
            <a:chExt cx="749433" cy="667421"/>
          </a:xfrm>
        </p:grpSpPr>
        <p:sp>
          <p:nvSpPr>
            <p:cNvPr id="8" name="Rectangle 7">
              <a:extLst>
                <a:ext uri="{FF2B5EF4-FFF2-40B4-BE49-F238E27FC236}">
                  <a16:creationId xmlns:a16="http://schemas.microsoft.com/office/drawing/2014/main" id="{1D8BED15-35D9-4C7C-AF9C-9A24CC7171A2}"/>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C098664-B4CA-4F3F-A374-35B722281332}"/>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F4B52889-AD37-4EB3-980A-2EC0F35D0F07}"/>
              </a:ext>
            </a:extLst>
          </p:cNvPr>
          <p:cNvGrpSpPr/>
          <p:nvPr/>
        </p:nvGrpSpPr>
        <p:grpSpPr>
          <a:xfrm rot="16200000" flipV="1">
            <a:off x="222184" y="6020725"/>
            <a:ext cx="749433" cy="667421"/>
            <a:chOff x="11139222" y="235887"/>
            <a:chExt cx="749433" cy="667421"/>
          </a:xfrm>
        </p:grpSpPr>
        <p:sp>
          <p:nvSpPr>
            <p:cNvPr id="11" name="Rectangle 10">
              <a:extLst>
                <a:ext uri="{FF2B5EF4-FFF2-40B4-BE49-F238E27FC236}">
                  <a16:creationId xmlns:a16="http://schemas.microsoft.com/office/drawing/2014/main" id="{FAFB0AA9-7F32-46B2-A77F-4ED07074D3C9}"/>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A4CEF8A-633A-46AF-ABD8-A2E5CA7A92C4}"/>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50639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3B873C3-2D8F-6464-6D3B-A55793335DD8}"/>
              </a:ext>
            </a:extLst>
          </p:cNvPr>
          <p:cNvSpPr txBox="1"/>
          <p:nvPr/>
        </p:nvSpPr>
        <p:spPr>
          <a:xfrm>
            <a:off x="836515" y="168842"/>
            <a:ext cx="9787920" cy="751744"/>
          </a:xfrm>
          <a:prstGeom prst="rect">
            <a:avLst/>
          </a:prstGeom>
          <a:noFill/>
        </p:spPr>
        <p:txBody>
          <a:bodyPr wrap="square">
            <a:spAutoFit/>
          </a:bodyPr>
          <a:lstStyle/>
          <a:p>
            <a:pPr algn="ctr">
              <a:lnSpc>
                <a:spcPct val="150000"/>
              </a:lnSpc>
            </a:pPr>
            <a:r>
              <a:rPr lang="en-US" sz="3200" b="1" dirty="0">
                <a:latin typeface="Copperplate Gothic Bold" panose="020E0705020206020404" pitchFamily="34" charset="0"/>
              </a:rPr>
              <a:t>Conclusion</a:t>
            </a:r>
          </a:p>
        </p:txBody>
      </p:sp>
      <p:grpSp>
        <p:nvGrpSpPr>
          <p:cNvPr id="7" name="Group 6">
            <a:extLst>
              <a:ext uri="{FF2B5EF4-FFF2-40B4-BE49-F238E27FC236}">
                <a16:creationId xmlns:a16="http://schemas.microsoft.com/office/drawing/2014/main" id="{A3F5139B-D685-0D81-EF54-487C57DBC2BC}"/>
              </a:ext>
            </a:extLst>
          </p:cNvPr>
          <p:cNvGrpSpPr/>
          <p:nvPr/>
        </p:nvGrpSpPr>
        <p:grpSpPr>
          <a:xfrm flipH="1" flipV="1">
            <a:off x="346317" y="6020333"/>
            <a:ext cx="749433" cy="667421"/>
            <a:chOff x="11139222" y="235887"/>
            <a:chExt cx="749433" cy="667421"/>
          </a:xfrm>
        </p:grpSpPr>
        <p:sp>
          <p:nvSpPr>
            <p:cNvPr id="9" name="Rectangle 8">
              <a:extLst>
                <a:ext uri="{FF2B5EF4-FFF2-40B4-BE49-F238E27FC236}">
                  <a16:creationId xmlns:a16="http://schemas.microsoft.com/office/drawing/2014/main" id="{B0AEE692-3AB6-89E3-B104-627E0C2CEC7C}"/>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7B151E-16E9-D7F1-4DC3-F268E2EA0BA1}"/>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85E87B7E-236B-9808-6E4B-E1D763222ECB}"/>
              </a:ext>
            </a:extLst>
          </p:cNvPr>
          <p:cNvGrpSpPr/>
          <p:nvPr/>
        </p:nvGrpSpPr>
        <p:grpSpPr>
          <a:xfrm rot="16200000" flipV="1">
            <a:off x="11247711" y="133177"/>
            <a:ext cx="749433" cy="667421"/>
            <a:chOff x="11139222" y="235887"/>
            <a:chExt cx="749433" cy="667421"/>
          </a:xfrm>
        </p:grpSpPr>
        <p:sp>
          <p:nvSpPr>
            <p:cNvPr id="12" name="Rectangle 11">
              <a:extLst>
                <a:ext uri="{FF2B5EF4-FFF2-40B4-BE49-F238E27FC236}">
                  <a16:creationId xmlns:a16="http://schemas.microsoft.com/office/drawing/2014/main" id="{29958FC0-A466-6C7B-9592-6BCBC309C740}"/>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E505E5F-CDED-1932-7101-74F1A764F42F}"/>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215EB2CD-400D-ABB9-CFEF-895799926D7A}"/>
              </a:ext>
            </a:extLst>
          </p:cNvPr>
          <p:cNvSpPr txBox="1"/>
          <p:nvPr/>
        </p:nvSpPr>
        <p:spPr>
          <a:xfrm>
            <a:off x="836515" y="1486481"/>
            <a:ext cx="10452202" cy="3885038"/>
          </a:xfrm>
          <a:custGeom>
            <a:avLst/>
            <a:gdLst>
              <a:gd name="connsiteX0" fmla="*/ 0 w 10452202"/>
              <a:gd name="connsiteY0" fmla="*/ 0 h 3885038"/>
              <a:gd name="connsiteX1" fmla="*/ 476156 w 10452202"/>
              <a:gd name="connsiteY1" fmla="*/ 0 h 3885038"/>
              <a:gd name="connsiteX2" fmla="*/ 743268 w 10452202"/>
              <a:gd name="connsiteY2" fmla="*/ 0 h 3885038"/>
              <a:gd name="connsiteX3" fmla="*/ 1532990 w 10452202"/>
              <a:gd name="connsiteY3" fmla="*/ 0 h 3885038"/>
              <a:gd name="connsiteX4" fmla="*/ 2009145 w 10452202"/>
              <a:gd name="connsiteY4" fmla="*/ 0 h 3885038"/>
              <a:gd name="connsiteX5" fmla="*/ 2485301 w 10452202"/>
              <a:gd name="connsiteY5" fmla="*/ 0 h 3885038"/>
              <a:gd name="connsiteX6" fmla="*/ 3275023 w 10452202"/>
              <a:gd name="connsiteY6" fmla="*/ 0 h 3885038"/>
              <a:gd name="connsiteX7" fmla="*/ 3646657 w 10452202"/>
              <a:gd name="connsiteY7" fmla="*/ 0 h 3885038"/>
              <a:gd name="connsiteX8" fmla="*/ 4436379 w 10452202"/>
              <a:gd name="connsiteY8" fmla="*/ 0 h 3885038"/>
              <a:gd name="connsiteX9" fmla="*/ 5226101 w 10452202"/>
              <a:gd name="connsiteY9" fmla="*/ 0 h 3885038"/>
              <a:gd name="connsiteX10" fmla="*/ 5806779 w 10452202"/>
              <a:gd name="connsiteY10" fmla="*/ 0 h 3885038"/>
              <a:gd name="connsiteX11" fmla="*/ 6596501 w 10452202"/>
              <a:gd name="connsiteY11" fmla="*/ 0 h 3885038"/>
              <a:gd name="connsiteX12" fmla="*/ 7072657 w 10452202"/>
              <a:gd name="connsiteY12" fmla="*/ 0 h 3885038"/>
              <a:gd name="connsiteX13" fmla="*/ 7548813 w 10452202"/>
              <a:gd name="connsiteY13" fmla="*/ 0 h 3885038"/>
              <a:gd name="connsiteX14" fmla="*/ 8234012 w 10452202"/>
              <a:gd name="connsiteY14" fmla="*/ 0 h 3885038"/>
              <a:gd name="connsiteX15" fmla="*/ 8710168 w 10452202"/>
              <a:gd name="connsiteY15" fmla="*/ 0 h 3885038"/>
              <a:gd name="connsiteX16" fmla="*/ 9499890 w 10452202"/>
              <a:gd name="connsiteY16" fmla="*/ 0 h 3885038"/>
              <a:gd name="connsiteX17" fmla="*/ 10452202 w 10452202"/>
              <a:gd name="connsiteY17" fmla="*/ 0 h 3885038"/>
              <a:gd name="connsiteX18" fmla="*/ 10452202 w 10452202"/>
              <a:gd name="connsiteY18" fmla="*/ 555005 h 3885038"/>
              <a:gd name="connsiteX19" fmla="*/ 10452202 w 10452202"/>
              <a:gd name="connsiteY19" fmla="*/ 1148861 h 3885038"/>
              <a:gd name="connsiteX20" fmla="*/ 10452202 w 10452202"/>
              <a:gd name="connsiteY20" fmla="*/ 1587316 h 3885038"/>
              <a:gd name="connsiteX21" fmla="*/ 10452202 w 10452202"/>
              <a:gd name="connsiteY21" fmla="*/ 2064620 h 3885038"/>
              <a:gd name="connsiteX22" fmla="*/ 10452202 w 10452202"/>
              <a:gd name="connsiteY22" fmla="*/ 2658476 h 3885038"/>
              <a:gd name="connsiteX23" fmla="*/ 10452202 w 10452202"/>
              <a:gd name="connsiteY23" fmla="*/ 3174631 h 3885038"/>
              <a:gd name="connsiteX24" fmla="*/ 10452202 w 10452202"/>
              <a:gd name="connsiteY24" fmla="*/ 3885038 h 3885038"/>
              <a:gd name="connsiteX25" fmla="*/ 9767002 w 10452202"/>
              <a:gd name="connsiteY25" fmla="*/ 3885038 h 3885038"/>
              <a:gd name="connsiteX26" fmla="*/ 9499890 w 10452202"/>
              <a:gd name="connsiteY26" fmla="*/ 3885038 h 3885038"/>
              <a:gd name="connsiteX27" fmla="*/ 8919212 w 10452202"/>
              <a:gd name="connsiteY27" fmla="*/ 3885038 h 3885038"/>
              <a:gd name="connsiteX28" fmla="*/ 8547579 w 10452202"/>
              <a:gd name="connsiteY28" fmla="*/ 3885038 h 3885038"/>
              <a:gd name="connsiteX29" fmla="*/ 7862379 w 10452202"/>
              <a:gd name="connsiteY29" fmla="*/ 3885038 h 3885038"/>
              <a:gd name="connsiteX30" fmla="*/ 7490745 w 10452202"/>
              <a:gd name="connsiteY30" fmla="*/ 3885038 h 3885038"/>
              <a:gd name="connsiteX31" fmla="*/ 6805545 w 10452202"/>
              <a:gd name="connsiteY31" fmla="*/ 3885038 h 3885038"/>
              <a:gd name="connsiteX32" fmla="*/ 6538433 w 10452202"/>
              <a:gd name="connsiteY32" fmla="*/ 3885038 h 3885038"/>
              <a:gd name="connsiteX33" fmla="*/ 5853233 w 10452202"/>
              <a:gd name="connsiteY33" fmla="*/ 3885038 h 3885038"/>
              <a:gd name="connsiteX34" fmla="*/ 5481599 w 10452202"/>
              <a:gd name="connsiteY34" fmla="*/ 3885038 h 3885038"/>
              <a:gd name="connsiteX35" fmla="*/ 5214487 w 10452202"/>
              <a:gd name="connsiteY35" fmla="*/ 3885038 h 3885038"/>
              <a:gd name="connsiteX36" fmla="*/ 4842854 w 10452202"/>
              <a:gd name="connsiteY36" fmla="*/ 3885038 h 3885038"/>
              <a:gd name="connsiteX37" fmla="*/ 4157654 w 10452202"/>
              <a:gd name="connsiteY37" fmla="*/ 3885038 h 3885038"/>
              <a:gd name="connsiteX38" fmla="*/ 3786020 w 10452202"/>
              <a:gd name="connsiteY38" fmla="*/ 3885038 h 3885038"/>
              <a:gd name="connsiteX39" fmla="*/ 3518908 w 10452202"/>
              <a:gd name="connsiteY39" fmla="*/ 3885038 h 3885038"/>
              <a:gd name="connsiteX40" fmla="*/ 3147274 w 10452202"/>
              <a:gd name="connsiteY40" fmla="*/ 3885038 h 3885038"/>
              <a:gd name="connsiteX41" fmla="*/ 2671118 w 10452202"/>
              <a:gd name="connsiteY41" fmla="*/ 3885038 h 3885038"/>
              <a:gd name="connsiteX42" fmla="*/ 2090440 w 10452202"/>
              <a:gd name="connsiteY42" fmla="*/ 3885038 h 3885038"/>
              <a:gd name="connsiteX43" fmla="*/ 1718807 w 10452202"/>
              <a:gd name="connsiteY43" fmla="*/ 3885038 h 3885038"/>
              <a:gd name="connsiteX44" fmla="*/ 929085 w 10452202"/>
              <a:gd name="connsiteY44" fmla="*/ 3885038 h 3885038"/>
              <a:gd name="connsiteX45" fmla="*/ 0 w 10452202"/>
              <a:gd name="connsiteY45" fmla="*/ 3885038 h 3885038"/>
              <a:gd name="connsiteX46" fmla="*/ 0 w 10452202"/>
              <a:gd name="connsiteY46" fmla="*/ 3252332 h 3885038"/>
              <a:gd name="connsiteX47" fmla="*/ 0 w 10452202"/>
              <a:gd name="connsiteY47" fmla="*/ 2697326 h 3885038"/>
              <a:gd name="connsiteX48" fmla="*/ 0 w 10452202"/>
              <a:gd name="connsiteY48" fmla="*/ 2142321 h 3885038"/>
              <a:gd name="connsiteX49" fmla="*/ 0 w 10452202"/>
              <a:gd name="connsiteY49" fmla="*/ 1626166 h 3885038"/>
              <a:gd name="connsiteX50" fmla="*/ 0 w 10452202"/>
              <a:gd name="connsiteY50" fmla="*/ 1032310 h 3885038"/>
              <a:gd name="connsiteX51" fmla="*/ 0 w 10452202"/>
              <a:gd name="connsiteY51" fmla="*/ 477305 h 3885038"/>
              <a:gd name="connsiteX52" fmla="*/ 0 w 10452202"/>
              <a:gd name="connsiteY52" fmla="*/ 0 h 388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452202" h="3885038" extrusionOk="0">
                <a:moveTo>
                  <a:pt x="0" y="0"/>
                </a:moveTo>
                <a:cubicBezTo>
                  <a:pt x="211191" y="-52303"/>
                  <a:pt x="261364" y="38028"/>
                  <a:pt x="476156" y="0"/>
                </a:cubicBezTo>
                <a:cubicBezTo>
                  <a:pt x="690948" y="-38028"/>
                  <a:pt x="656927" y="4018"/>
                  <a:pt x="743268" y="0"/>
                </a:cubicBezTo>
                <a:cubicBezTo>
                  <a:pt x="829609" y="-4018"/>
                  <a:pt x="1365833" y="40310"/>
                  <a:pt x="1532990" y="0"/>
                </a:cubicBezTo>
                <a:cubicBezTo>
                  <a:pt x="1700147" y="-40310"/>
                  <a:pt x="1836694" y="4895"/>
                  <a:pt x="2009145" y="0"/>
                </a:cubicBezTo>
                <a:cubicBezTo>
                  <a:pt x="2181597" y="-4895"/>
                  <a:pt x="2262973" y="8882"/>
                  <a:pt x="2485301" y="0"/>
                </a:cubicBezTo>
                <a:cubicBezTo>
                  <a:pt x="2707629" y="-8882"/>
                  <a:pt x="3033708" y="24148"/>
                  <a:pt x="3275023" y="0"/>
                </a:cubicBezTo>
                <a:cubicBezTo>
                  <a:pt x="3516338" y="-24148"/>
                  <a:pt x="3507636" y="11585"/>
                  <a:pt x="3646657" y="0"/>
                </a:cubicBezTo>
                <a:cubicBezTo>
                  <a:pt x="3785678" y="-11585"/>
                  <a:pt x="4171838" y="34941"/>
                  <a:pt x="4436379" y="0"/>
                </a:cubicBezTo>
                <a:cubicBezTo>
                  <a:pt x="4700920" y="-34941"/>
                  <a:pt x="5010270" y="80411"/>
                  <a:pt x="5226101" y="0"/>
                </a:cubicBezTo>
                <a:cubicBezTo>
                  <a:pt x="5441932" y="-80411"/>
                  <a:pt x="5557628" y="31624"/>
                  <a:pt x="5806779" y="0"/>
                </a:cubicBezTo>
                <a:cubicBezTo>
                  <a:pt x="6055930" y="-31624"/>
                  <a:pt x="6382659" y="64429"/>
                  <a:pt x="6596501" y="0"/>
                </a:cubicBezTo>
                <a:cubicBezTo>
                  <a:pt x="6810343" y="-64429"/>
                  <a:pt x="6931804" y="7481"/>
                  <a:pt x="7072657" y="0"/>
                </a:cubicBezTo>
                <a:cubicBezTo>
                  <a:pt x="7213510" y="-7481"/>
                  <a:pt x="7380266" y="9198"/>
                  <a:pt x="7548813" y="0"/>
                </a:cubicBezTo>
                <a:cubicBezTo>
                  <a:pt x="7717360" y="-9198"/>
                  <a:pt x="8030011" y="57055"/>
                  <a:pt x="8234012" y="0"/>
                </a:cubicBezTo>
                <a:cubicBezTo>
                  <a:pt x="8438013" y="-57055"/>
                  <a:pt x="8580613" y="22789"/>
                  <a:pt x="8710168" y="0"/>
                </a:cubicBezTo>
                <a:cubicBezTo>
                  <a:pt x="8839723" y="-22789"/>
                  <a:pt x="9298644" y="7972"/>
                  <a:pt x="9499890" y="0"/>
                </a:cubicBezTo>
                <a:cubicBezTo>
                  <a:pt x="9701136" y="-7972"/>
                  <a:pt x="10099015" y="11278"/>
                  <a:pt x="10452202" y="0"/>
                </a:cubicBezTo>
                <a:cubicBezTo>
                  <a:pt x="10516833" y="247145"/>
                  <a:pt x="10389706" y="343445"/>
                  <a:pt x="10452202" y="555005"/>
                </a:cubicBezTo>
                <a:cubicBezTo>
                  <a:pt x="10514698" y="766565"/>
                  <a:pt x="10424557" y="994662"/>
                  <a:pt x="10452202" y="1148861"/>
                </a:cubicBezTo>
                <a:cubicBezTo>
                  <a:pt x="10479847" y="1303060"/>
                  <a:pt x="10408629" y="1479099"/>
                  <a:pt x="10452202" y="1587316"/>
                </a:cubicBezTo>
                <a:cubicBezTo>
                  <a:pt x="10495775" y="1695533"/>
                  <a:pt x="10435801" y="1960629"/>
                  <a:pt x="10452202" y="2064620"/>
                </a:cubicBezTo>
                <a:cubicBezTo>
                  <a:pt x="10468603" y="2168611"/>
                  <a:pt x="10440085" y="2435599"/>
                  <a:pt x="10452202" y="2658476"/>
                </a:cubicBezTo>
                <a:cubicBezTo>
                  <a:pt x="10464319" y="2881353"/>
                  <a:pt x="10407554" y="2968063"/>
                  <a:pt x="10452202" y="3174631"/>
                </a:cubicBezTo>
                <a:cubicBezTo>
                  <a:pt x="10496850" y="3381199"/>
                  <a:pt x="10390571" y="3667963"/>
                  <a:pt x="10452202" y="3885038"/>
                </a:cubicBezTo>
                <a:cubicBezTo>
                  <a:pt x="10194994" y="3954866"/>
                  <a:pt x="10030186" y="3841526"/>
                  <a:pt x="9767002" y="3885038"/>
                </a:cubicBezTo>
                <a:cubicBezTo>
                  <a:pt x="9503818" y="3928550"/>
                  <a:pt x="9592163" y="3857260"/>
                  <a:pt x="9499890" y="3885038"/>
                </a:cubicBezTo>
                <a:cubicBezTo>
                  <a:pt x="9407617" y="3912816"/>
                  <a:pt x="9094539" y="3821229"/>
                  <a:pt x="8919212" y="3885038"/>
                </a:cubicBezTo>
                <a:cubicBezTo>
                  <a:pt x="8743885" y="3948847"/>
                  <a:pt x="8691944" y="3862238"/>
                  <a:pt x="8547579" y="3885038"/>
                </a:cubicBezTo>
                <a:cubicBezTo>
                  <a:pt x="8403214" y="3907838"/>
                  <a:pt x="8086090" y="3812685"/>
                  <a:pt x="7862379" y="3885038"/>
                </a:cubicBezTo>
                <a:cubicBezTo>
                  <a:pt x="7638668" y="3957391"/>
                  <a:pt x="7604570" y="3877520"/>
                  <a:pt x="7490745" y="3885038"/>
                </a:cubicBezTo>
                <a:cubicBezTo>
                  <a:pt x="7376920" y="3892556"/>
                  <a:pt x="7108226" y="3874544"/>
                  <a:pt x="6805545" y="3885038"/>
                </a:cubicBezTo>
                <a:cubicBezTo>
                  <a:pt x="6502864" y="3895532"/>
                  <a:pt x="6609162" y="3853156"/>
                  <a:pt x="6538433" y="3885038"/>
                </a:cubicBezTo>
                <a:cubicBezTo>
                  <a:pt x="6467704" y="3916920"/>
                  <a:pt x="6039407" y="3803329"/>
                  <a:pt x="5853233" y="3885038"/>
                </a:cubicBezTo>
                <a:cubicBezTo>
                  <a:pt x="5667059" y="3966747"/>
                  <a:pt x="5611200" y="3841650"/>
                  <a:pt x="5481599" y="3885038"/>
                </a:cubicBezTo>
                <a:cubicBezTo>
                  <a:pt x="5351998" y="3928426"/>
                  <a:pt x="5330505" y="3855994"/>
                  <a:pt x="5214487" y="3885038"/>
                </a:cubicBezTo>
                <a:cubicBezTo>
                  <a:pt x="5098469" y="3914082"/>
                  <a:pt x="4932616" y="3862644"/>
                  <a:pt x="4842854" y="3885038"/>
                </a:cubicBezTo>
                <a:cubicBezTo>
                  <a:pt x="4753092" y="3907432"/>
                  <a:pt x="4332001" y="3850581"/>
                  <a:pt x="4157654" y="3885038"/>
                </a:cubicBezTo>
                <a:cubicBezTo>
                  <a:pt x="3983307" y="3919495"/>
                  <a:pt x="3928128" y="3874571"/>
                  <a:pt x="3786020" y="3885038"/>
                </a:cubicBezTo>
                <a:cubicBezTo>
                  <a:pt x="3643912" y="3895505"/>
                  <a:pt x="3572363" y="3875075"/>
                  <a:pt x="3518908" y="3885038"/>
                </a:cubicBezTo>
                <a:cubicBezTo>
                  <a:pt x="3465453" y="3895001"/>
                  <a:pt x="3237482" y="3877590"/>
                  <a:pt x="3147274" y="3885038"/>
                </a:cubicBezTo>
                <a:cubicBezTo>
                  <a:pt x="3057066" y="3892486"/>
                  <a:pt x="2832484" y="3865334"/>
                  <a:pt x="2671118" y="3885038"/>
                </a:cubicBezTo>
                <a:cubicBezTo>
                  <a:pt x="2509752" y="3904742"/>
                  <a:pt x="2330870" y="3817028"/>
                  <a:pt x="2090440" y="3885038"/>
                </a:cubicBezTo>
                <a:cubicBezTo>
                  <a:pt x="1850010" y="3953048"/>
                  <a:pt x="1817551" y="3840737"/>
                  <a:pt x="1718807" y="3885038"/>
                </a:cubicBezTo>
                <a:cubicBezTo>
                  <a:pt x="1620063" y="3929339"/>
                  <a:pt x="1127717" y="3812113"/>
                  <a:pt x="929085" y="3885038"/>
                </a:cubicBezTo>
                <a:cubicBezTo>
                  <a:pt x="730453" y="3957963"/>
                  <a:pt x="294997" y="3819909"/>
                  <a:pt x="0" y="3885038"/>
                </a:cubicBezTo>
                <a:cubicBezTo>
                  <a:pt x="-59045" y="3601782"/>
                  <a:pt x="70290" y="3488738"/>
                  <a:pt x="0" y="3252332"/>
                </a:cubicBezTo>
                <a:cubicBezTo>
                  <a:pt x="-70290" y="3015926"/>
                  <a:pt x="48140" y="2897254"/>
                  <a:pt x="0" y="2697326"/>
                </a:cubicBezTo>
                <a:cubicBezTo>
                  <a:pt x="-48140" y="2497398"/>
                  <a:pt x="53399" y="2380077"/>
                  <a:pt x="0" y="2142321"/>
                </a:cubicBezTo>
                <a:cubicBezTo>
                  <a:pt x="-53399" y="1904566"/>
                  <a:pt x="16906" y="1850058"/>
                  <a:pt x="0" y="1626166"/>
                </a:cubicBezTo>
                <a:cubicBezTo>
                  <a:pt x="-16906" y="1402275"/>
                  <a:pt x="2391" y="1203550"/>
                  <a:pt x="0" y="1032310"/>
                </a:cubicBezTo>
                <a:cubicBezTo>
                  <a:pt x="-2391" y="861070"/>
                  <a:pt x="43511" y="620221"/>
                  <a:pt x="0" y="477305"/>
                </a:cubicBezTo>
                <a:cubicBezTo>
                  <a:pt x="-43511" y="334390"/>
                  <a:pt x="29007" y="161318"/>
                  <a:pt x="0" y="0"/>
                </a:cubicBezTo>
                <a:close/>
              </a:path>
            </a:pathLst>
          </a:custGeom>
          <a:noFill/>
          <a:ln>
            <a:no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lnSpc>
                <a:spcPct val="150000"/>
              </a:lnSpc>
            </a:pPr>
            <a:r>
              <a:rPr lang="en-US" sz="2800" dirty="0">
                <a:latin typeface="Agency FB" panose="020B0503020202020204" pitchFamily="34" charset="0"/>
              </a:rPr>
              <a:t>This analysis clearly demonstrates that climate change—through rising temperatures and irregular precipitation, significantly impacts agricultural productivity, leading to lower crop yields in many regions. While some areas exhibit resilience thanks to effective farming practices and adaptive measures, others remain highly vulnerable, underscoring the urgent need for tailored, data-driven interventions to safeguard food security and ensure sustainable agricultural practices in the face of ongoing climate challenges.</a:t>
            </a:r>
            <a:endParaRPr lang="en-US" sz="2800" b="1" dirty="0">
              <a:latin typeface="Agency FB" panose="020B0503020202020204" pitchFamily="34" charset="0"/>
            </a:endParaRPr>
          </a:p>
        </p:txBody>
      </p:sp>
    </p:spTree>
    <p:extLst>
      <p:ext uri="{BB962C8B-B14F-4D97-AF65-F5344CB8AC3E}">
        <p14:creationId xmlns:p14="http://schemas.microsoft.com/office/powerpoint/2010/main" val="21839099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D21301-DA3B-49EE-961E-6D60D1553ECD}"/>
              </a:ext>
            </a:extLst>
          </p:cNvPr>
          <p:cNvPicPr>
            <a:picLocks noChangeAspect="1"/>
          </p:cNvPicPr>
          <p:nvPr/>
        </p:nvPicPr>
        <p:blipFill>
          <a:blip r:embed="rId2"/>
          <a:stretch>
            <a:fillRect/>
          </a:stretch>
        </p:blipFill>
        <p:spPr>
          <a:xfrm>
            <a:off x="277659" y="599022"/>
            <a:ext cx="11636679" cy="5952090"/>
          </a:xfrm>
          <a:prstGeom prst="rect">
            <a:avLst/>
          </a:prstGeom>
        </p:spPr>
      </p:pic>
      <p:sp>
        <p:nvSpPr>
          <p:cNvPr id="4" name="TextBox 3">
            <a:extLst>
              <a:ext uri="{FF2B5EF4-FFF2-40B4-BE49-F238E27FC236}">
                <a16:creationId xmlns:a16="http://schemas.microsoft.com/office/drawing/2014/main" id="{C645EBB9-AE24-4CF8-84B9-A5D2A46CE971}"/>
              </a:ext>
            </a:extLst>
          </p:cNvPr>
          <p:cNvSpPr txBox="1"/>
          <p:nvPr/>
        </p:nvSpPr>
        <p:spPr>
          <a:xfrm>
            <a:off x="4166991" y="137357"/>
            <a:ext cx="3858017" cy="461665"/>
          </a:xfrm>
          <a:prstGeom prst="rect">
            <a:avLst/>
          </a:prstGeom>
          <a:noFill/>
        </p:spPr>
        <p:txBody>
          <a:bodyPr wrap="square" rtlCol="0">
            <a:spAutoFit/>
          </a:bodyPr>
          <a:lstStyle/>
          <a:p>
            <a:pPr algn="ctr"/>
            <a:r>
              <a:rPr lang="en-US" sz="2400" dirty="0">
                <a:latin typeface="Copperplate Gothic Bold" panose="020E0705020206020404" pitchFamily="34" charset="0"/>
              </a:rPr>
              <a:t>DASHBOARD</a:t>
            </a:r>
          </a:p>
        </p:txBody>
      </p:sp>
    </p:spTree>
    <p:extLst>
      <p:ext uri="{BB962C8B-B14F-4D97-AF65-F5344CB8AC3E}">
        <p14:creationId xmlns:p14="http://schemas.microsoft.com/office/powerpoint/2010/main" val="2450280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59606E-9EE6-44EB-9752-D780A37CF6CD}"/>
              </a:ext>
            </a:extLst>
          </p:cNvPr>
          <p:cNvPicPr>
            <a:picLocks noChangeAspect="1"/>
          </p:cNvPicPr>
          <p:nvPr/>
        </p:nvPicPr>
        <p:blipFill>
          <a:blip r:embed="rId2"/>
          <a:stretch>
            <a:fillRect/>
          </a:stretch>
        </p:blipFill>
        <p:spPr>
          <a:xfrm>
            <a:off x="395727" y="246451"/>
            <a:ext cx="11400545" cy="6365098"/>
          </a:xfrm>
          <a:prstGeom prst="rect">
            <a:avLst/>
          </a:prstGeom>
        </p:spPr>
      </p:pic>
    </p:spTree>
    <p:extLst>
      <p:ext uri="{BB962C8B-B14F-4D97-AF65-F5344CB8AC3E}">
        <p14:creationId xmlns:p14="http://schemas.microsoft.com/office/powerpoint/2010/main" val="341949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20AA01-FB0A-7818-875B-7B32B146C9BA}"/>
            </a:ext>
          </a:extLst>
        </p:cNvPr>
        <p:cNvGrpSpPr/>
        <p:nvPr/>
      </p:nvGrpSpPr>
      <p:grpSpPr>
        <a:xfrm>
          <a:off x="0" y="0"/>
          <a:ext cx="0" cy="0"/>
          <a:chOff x="0" y="0"/>
          <a:chExt cx="0" cy="0"/>
        </a:xfrm>
      </p:grpSpPr>
      <p:pic>
        <p:nvPicPr>
          <p:cNvPr id="3" name="Picture 2" descr="A person walking in a field&#10;&#10;Description automatically generated">
            <a:extLst>
              <a:ext uri="{FF2B5EF4-FFF2-40B4-BE49-F238E27FC236}">
                <a16:creationId xmlns:a16="http://schemas.microsoft.com/office/drawing/2014/main" id="{56C6C444-9088-B6CB-EE41-6AF2B7E27F07}"/>
              </a:ext>
            </a:extLst>
          </p:cNvPr>
          <p:cNvPicPr>
            <a:picLocks noChangeAspect="1"/>
          </p:cNvPicPr>
          <p:nvPr/>
        </p:nvPicPr>
        <p:blipFill rotWithShape="1">
          <a:blip r:embed="rId2">
            <a:extLst>
              <a:ext uri="{28A0092B-C50C-407E-A947-70E740481C1C}">
                <a14:useLocalDpi xmlns:a14="http://schemas.microsoft.com/office/drawing/2010/main" val="0"/>
              </a:ext>
            </a:extLst>
          </a:blip>
          <a:srcRect b="15"/>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6479EE6F-0E32-6683-30E3-F69F374B4E86}"/>
              </a:ext>
            </a:extLst>
          </p:cNvPr>
          <p:cNvSpPr/>
          <p:nvPr/>
        </p:nvSpPr>
        <p:spPr>
          <a:xfrm>
            <a:off x="3048" y="1282"/>
            <a:ext cx="12188952" cy="6856718"/>
          </a:xfrm>
          <a:prstGeom prst="rect">
            <a:avLst/>
          </a:prstGeom>
          <a:solidFill>
            <a:srgbClr val="2F5218">
              <a:alpha val="5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 name="Group 6">
            <a:extLst>
              <a:ext uri="{FF2B5EF4-FFF2-40B4-BE49-F238E27FC236}">
                <a16:creationId xmlns:a16="http://schemas.microsoft.com/office/drawing/2014/main" id="{E3D46022-CB7D-1026-6322-F07F872BFEF0}"/>
              </a:ext>
            </a:extLst>
          </p:cNvPr>
          <p:cNvGrpSpPr/>
          <p:nvPr/>
        </p:nvGrpSpPr>
        <p:grpSpPr>
          <a:xfrm flipH="1" flipV="1">
            <a:off x="346317" y="6020333"/>
            <a:ext cx="749433" cy="667421"/>
            <a:chOff x="11139222" y="235887"/>
            <a:chExt cx="749433" cy="667421"/>
          </a:xfrm>
        </p:grpSpPr>
        <p:sp>
          <p:nvSpPr>
            <p:cNvPr id="9" name="Rectangle 8">
              <a:extLst>
                <a:ext uri="{FF2B5EF4-FFF2-40B4-BE49-F238E27FC236}">
                  <a16:creationId xmlns:a16="http://schemas.microsoft.com/office/drawing/2014/main" id="{DFB0C337-7933-E4F3-33B5-A8EFC54B210D}"/>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847D462-4345-BABB-8697-71EFD23AB31D}"/>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F4E1A687-6857-C158-0236-6B5E42A51937}"/>
              </a:ext>
            </a:extLst>
          </p:cNvPr>
          <p:cNvGrpSpPr/>
          <p:nvPr/>
        </p:nvGrpSpPr>
        <p:grpSpPr>
          <a:xfrm rot="16200000" flipV="1">
            <a:off x="11247711" y="133177"/>
            <a:ext cx="749433" cy="667421"/>
            <a:chOff x="11139222" y="235887"/>
            <a:chExt cx="749433" cy="667421"/>
          </a:xfrm>
        </p:grpSpPr>
        <p:sp>
          <p:nvSpPr>
            <p:cNvPr id="12" name="Rectangle 11">
              <a:extLst>
                <a:ext uri="{FF2B5EF4-FFF2-40B4-BE49-F238E27FC236}">
                  <a16:creationId xmlns:a16="http://schemas.microsoft.com/office/drawing/2014/main" id="{D6DBA0DA-2F62-8893-2D7B-6DA583347FA6}"/>
                </a:ext>
              </a:extLst>
            </p:cNvPr>
            <p:cNvSpPr/>
            <p:nvPr/>
          </p:nvSpPr>
          <p:spPr>
            <a:xfrm>
              <a:off x="11379199" y="235887"/>
              <a:ext cx="509456" cy="496712"/>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DBA5881-C988-9295-E21D-1912BB09EE12}"/>
                </a:ext>
              </a:extLst>
            </p:cNvPr>
            <p:cNvSpPr/>
            <p:nvPr/>
          </p:nvSpPr>
          <p:spPr>
            <a:xfrm>
              <a:off x="11139222" y="406596"/>
              <a:ext cx="509456" cy="496712"/>
            </a:xfrm>
            <a:prstGeom prst="rect">
              <a:avLst/>
            </a:prstGeom>
            <a:solidFill>
              <a:srgbClr val="A8D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AA022012-F0A4-EAD0-5433-F3D20941C3F8}"/>
              </a:ext>
            </a:extLst>
          </p:cNvPr>
          <p:cNvSpPr txBox="1"/>
          <p:nvPr/>
        </p:nvSpPr>
        <p:spPr>
          <a:xfrm>
            <a:off x="1659925" y="1576395"/>
            <a:ext cx="8872151"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chemeClr val="bg1"/>
                </a:solidFill>
                <a:effectLst/>
                <a:uLnTx/>
                <a:uFillTx/>
                <a:latin typeface="Copperplate Gothic Bold" panose="020E0705020206020404" pitchFamily="34" charset="0"/>
                <a:cs typeface="Segoe UI" panose="020B0502040204020203" pitchFamily="34" charset="0"/>
              </a:rPr>
              <a:t>Thank You!</a:t>
            </a:r>
          </a:p>
        </p:txBody>
      </p:sp>
    </p:spTree>
    <p:extLst>
      <p:ext uri="{BB962C8B-B14F-4D97-AF65-F5344CB8AC3E}">
        <p14:creationId xmlns:p14="http://schemas.microsoft.com/office/powerpoint/2010/main" val="17513675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2942</TotalTime>
  <Words>579</Words>
  <Application>Microsoft Office PowerPoint</Application>
  <PresentationFormat>Widescreen</PresentationFormat>
  <Paragraphs>123</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Agency FB</vt:lpstr>
      <vt:lpstr>Arial</vt:lpstr>
      <vt:lpstr>Arial Black</vt:lpstr>
      <vt:lpstr>Calibri</vt:lpstr>
      <vt:lpstr>Calibri Light</vt:lpstr>
      <vt:lpstr>Copperplate Gothic Bold</vt:lpstr>
      <vt:lpstr>Lora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SlideEgg</dc:creator>
  <cp:lastModifiedBy>sulaiman ahmad bello</cp:lastModifiedBy>
  <cp:revision>74</cp:revision>
  <dcterms:created xsi:type="dcterms:W3CDTF">2023-07-26T04:16:49Z</dcterms:created>
  <dcterms:modified xsi:type="dcterms:W3CDTF">2025-04-14T08:44:39Z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1635725</vt:lpwstr>
  </property>
  <property fmtid="{D5CDD505-2E9C-101B-9397-08002B2CF9AE}" pid="3" name="NXPowerLiteSettings">
    <vt:lpwstr>E700052003A000</vt:lpwstr>
  </property>
  <property fmtid="{D5CDD505-2E9C-101B-9397-08002B2CF9AE}" pid="4" name="NXPowerLiteVersion">
    <vt:lpwstr>D9.1.4</vt:lpwstr>
  </property>
</Properties>
</file>